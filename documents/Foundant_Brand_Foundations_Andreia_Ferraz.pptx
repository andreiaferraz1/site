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fe17af17184ad5" /><Relationship Type="http://schemas.openxmlformats.org/officeDocument/2006/relationships/extended-properties" Target="/docProps/app.xml" Id="R33fa67a64a234dcb" /><Relationship Type="http://schemas.openxmlformats.org/officeDocument/2006/relationships/officeDocument" Target="/ppt/presentation.xml" Id="R809f361d9e2741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10d22a0dcf4ff1"/>
  </p:sldMasterIdLst>
  <p:notesMasterIdLst>
    <p:notesMasterId xmlns:r="http://schemas.openxmlformats.org/officeDocument/2006/relationships" r:id="Rd538f313b5794ea5"/>
  </p:notesMasterIdLst>
  <p:sldIdLst>
    <p:sldId xmlns:r="http://schemas.openxmlformats.org/officeDocument/2006/relationships" id="256" r:id="R9a9d7e2186154a34"/>
    <p:sldId xmlns:r="http://schemas.openxmlformats.org/officeDocument/2006/relationships" id="257" r:id="Raead6fe5bf244d37"/>
    <p:sldId xmlns:r="http://schemas.openxmlformats.org/officeDocument/2006/relationships" id="258" r:id="R3e7ea4036d79400c"/>
    <p:sldId xmlns:r="http://schemas.openxmlformats.org/officeDocument/2006/relationships" id="259" r:id="Rd490b4d0d5154918"/>
    <p:sldId xmlns:r="http://schemas.openxmlformats.org/officeDocument/2006/relationships" id="260" r:id="R71e947112a224033"/>
    <p:sldId xmlns:r="http://schemas.openxmlformats.org/officeDocument/2006/relationships" id="261" r:id="R4fc95643b4534c85"/>
    <p:sldId xmlns:r="http://schemas.openxmlformats.org/officeDocument/2006/relationships" id="262" r:id="R46bdf79a15b249f4"/>
    <p:sldId xmlns:r="http://schemas.openxmlformats.org/officeDocument/2006/relationships" id="263" r:id="Rc3083e1e4ad14cbe"/>
    <p:sldId xmlns:r="http://schemas.openxmlformats.org/officeDocument/2006/relationships" id="264" r:id="R8c7e44e6f810491a"/>
    <p:sldId xmlns:r="http://schemas.openxmlformats.org/officeDocument/2006/relationships" id="265" r:id="R5c3115cf8e364728"/>
    <p:sldId xmlns:r="http://schemas.openxmlformats.org/officeDocument/2006/relationships" id="266" r:id="Rdde25afd7de14690"/>
    <p:sldId xmlns:r="http://schemas.openxmlformats.org/officeDocument/2006/relationships" id="267" r:id="R5e359e0175fc4e59"/>
    <p:sldId xmlns:r="http://schemas.openxmlformats.org/officeDocument/2006/relationships" id="268" r:id="R2749dc93e9da4ecb"/>
    <p:sldId xmlns:r="http://schemas.openxmlformats.org/officeDocument/2006/relationships" id="269" r:id="R8b6a84e6eb044278"/>
    <p:sldId xmlns:r="http://schemas.openxmlformats.org/officeDocument/2006/relationships" id="270" r:id="R0f4c43a1ed8f4c83"/>
    <p:sldId xmlns:r="http://schemas.openxmlformats.org/officeDocument/2006/relationships" id="271" r:id="Rda8abbd174a44c05"/>
    <p:sldId xmlns:r="http://schemas.openxmlformats.org/officeDocument/2006/relationships" id="272" r:id="R6f65ca187f5d444c"/>
    <p:sldId xmlns:r="http://schemas.openxmlformats.org/officeDocument/2006/relationships" id="273" r:id="Re59df2e1b9fb4715"/>
    <p:sldId xmlns:r="http://schemas.openxmlformats.org/officeDocument/2006/relationships" id="274" r:id="R6a822fe2da73455d"/>
    <p:sldId xmlns:r="http://schemas.openxmlformats.org/officeDocument/2006/relationships" id="275" r:id="R3f654e7ed62b4cc5"/>
    <p:sldId xmlns:r="http://schemas.openxmlformats.org/officeDocument/2006/relationships" id="276" r:id="R6d5fd0b6d1c74d3e"/>
    <p:sldId xmlns:r="http://schemas.openxmlformats.org/officeDocument/2006/relationships" id="277" r:id="R550009216a8c46db"/>
    <p:sldId xmlns:r="http://schemas.openxmlformats.org/officeDocument/2006/relationships" id="278" r:id="Rded5f4d91da44662"/>
    <p:sldId xmlns:r="http://schemas.openxmlformats.org/officeDocument/2006/relationships" id="279" r:id="R1719dec84086409c"/>
    <p:sldId xmlns:r="http://schemas.openxmlformats.org/officeDocument/2006/relationships" id="280" r:id="R549409ad5197472c"/>
    <p:sldId xmlns:r="http://schemas.openxmlformats.org/officeDocument/2006/relationships" id="281" r:id="Re3cbc1d61c4d4542"/>
    <p:sldId xmlns:r="http://schemas.openxmlformats.org/officeDocument/2006/relationships" id="282" r:id="R20cd71a256dc46ac"/>
    <p:sldId xmlns:r="http://schemas.openxmlformats.org/officeDocument/2006/relationships" id="283" r:id="R46d71f037ff444c5"/>
    <p:sldId xmlns:r="http://schemas.openxmlformats.org/officeDocument/2006/relationships" id="284" r:id="Rcab9b8d83d93408a"/>
    <p:sldId xmlns:r="http://schemas.openxmlformats.org/officeDocument/2006/relationships" id="285" r:id="Re17ce6977bed45f0"/>
    <p:sldId xmlns:r="http://schemas.openxmlformats.org/officeDocument/2006/relationships" id="286" r:id="Rf897749ac55440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ba5a82413c462e" /><Relationship Type="http://schemas.openxmlformats.org/officeDocument/2006/relationships/slideMaster" Target="/ppt/slideMasters/slideMaster1.xml" Id="R0a10d22a0dcf4ff1" /><Relationship Type="http://schemas.openxmlformats.org/officeDocument/2006/relationships/notesMaster" Target="/ppt/notesMasters/notesMaster1.xml" Id="Rd538f313b5794ea5" /><Relationship Type="http://schemas.openxmlformats.org/officeDocument/2006/relationships/presProps" Target="/ppt/presProps.xml" Id="Rc26700ea036244b9" /><Relationship Type="http://schemas.openxmlformats.org/officeDocument/2006/relationships/tableStyles" Target="/ppt/tableStyles.xml" Id="Rfead10c8e6fb45ad" /><Relationship Type="http://schemas.openxmlformats.org/officeDocument/2006/relationships/slide" Target="/ppt/slides/slide1.xml" Id="R9a9d7e2186154a34" /><Relationship Type="http://schemas.openxmlformats.org/officeDocument/2006/relationships/slide" Target="/ppt/slides/slide2.xml" Id="Raead6fe5bf244d37" /><Relationship Type="http://schemas.openxmlformats.org/officeDocument/2006/relationships/slide" Target="/ppt/slides/slide3.xml" Id="R3e7ea4036d79400c" /><Relationship Type="http://schemas.openxmlformats.org/officeDocument/2006/relationships/slide" Target="/ppt/slides/slide4.xml" Id="Rd490b4d0d5154918" /><Relationship Type="http://schemas.openxmlformats.org/officeDocument/2006/relationships/slide" Target="/ppt/slides/slide5.xml" Id="R71e947112a224033" /><Relationship Type="http://schemas.openxmlformats.org/officeDocument/2006/relationships/slide" Target="/ppt/slides/slide6.xml" Id="R4fc95643b4534c85" /><Relationship Type="http://schemas.openxmlformats.org/officeDocument/2006/relationships/slide" Target="/ppt/slides/slide7.xml" Id="R46bdf79a15b249f4" /><Relationship Type="http://schemas.openxmlformats.org/officeDocument/2006/relationships/slide" Target="/ppt/slides/slide8.xml" Id="Rc3083e1e4ad14cbe" /><Relationship Type="http://schemas.openxmlformats.org/officeDocument/2006/relationships/slide" Target="/ppt/slides/slide9.xml" Id="R8c7e44e6f810491a" /><Relationship Type="http://schemas.openxmlformats.org/officeDocument/2006/relationships/slide" Target="/ppt/slides/slide10.xml" Id="R5c3115cf8e364728" /><Relationship Type="http://schemas.openxmlformats.org/officeDocument/2006/relationships/slide" Target="/ppt/slides/slide11.xml" Id="Rdde25afd7de14690" /><Relationship Type="http://schemas.openxmlformats.org/officeDocument/2006/relationships/slide" Target="/ppt/slides/slide12.xml" Id="R5e359e0175fc4e59" /><Relationship Type="http://schemas.openxmlformats.org/officeDocument/2006/relationships/slide" Target="/ppt/slides/slide13.xml" Id="R2749dc93e9da4ecb" /><Relationship Type="http://schemas.openxmlformats.org/officeDocument/2006/relationships/slide" Target="/ppt/slides/slide14.xml" Id="R8b6a84e6eb044278" /><Relationship Type="http://schemas.openxmlformats.org/officeDocument/2006/relationships/slide" Target="/ppt/slides/slide15.xml" Id="R0f4c43a1ed8f4c83" /><Relationship Type="http://schemas.openxmlformats.org/officeDocument/2006/relationships/slide" Target="/ppt/slides/slide16.xml" Id="Rda8abbd174a44c05" /><Relationship Type="http://schemas.openxmlformats.org/officeDocument/2006/relationships/slide" Target="/ppt/slides/slide17.xml" Id="R6f65ca187f5d444c" /><Relationship Type="http://schemas.openxmlformats.org/officeDocument/2006/relationships/slide" Target="/ppt/slides/slide18.xml" Id="Re59df2e1b9fb4715" /><Relationship Type="http://schemas.openxmlformats.org/officeDocument/2006/relationships/slide" Target="/ppt/slides/slide19.xml" Id="R6a822fe2da73455d" /><Relationship Type="http://schemas.openxmlformats.org/officeDocument/2006/relationships/slide" Target="/ppt/slides/slide20.xml" Id="R3f654e7ed62b4cc5" /><Relationship Type="http://schemas.openxmlformats.org/officeDocument/2006/relationships/slide" Target="/ppt/slides/slide21.xml" Id="R6d5fd0b6d1c74d3e" /><Relationship Type="http://schemas.openxmlformats.org/officeDocument/2006/relationships/slide" Target="/ppt/slides/slide22.xml" Id="R550009216a8c46db" /><Relationship Type="http://schemas.openxmlformats.org/officeDocument/2006/relationships/slide" Target="/ppt/slides/slide23.xml" Id="Rded5f4d91da44662" /><Relationship Type="http://schemas.openxmlformats.org/officeDocument/2006/relationships/slide" Target="/ppt/slides/slide24.xml" Id="R1719dec84086409c" /><Relationship Type="http://schemas.openxmlformats.org/officeDocument/2006/relationships/slide" Target="/ppt/slides/slide25.xml" Id="R549409ad5197472c" /><Relationship Type="http://schemas.openxmlformats.org/officeDocument/2006/relationships/slide" Target="/ppt/slides/slide26.xml" Id="Re3cbc1d61c4d4542" /><Relationship Type="http://schemas.openxmlformats.org/officeDocument/2006/relationships/slide" Target="/ppt/slides/slide27.xml" Id="R20cd71a256dc46ac" /><Relationship Type="http://schemas.openxmlformats.org/officeDocument/2006/relationships/slide" Target="/ppt/slides/slide28.xml" Id="R46d71f037ff444c5" /><Relationship Type="http://schemas.openxmlformats.org/officeDocument/2006/relationships/slide" Target="/ppt/slides/slide29.xml" Id="Rcab9b8d83d93408a" /><Relationship Type="http://schemas.openxmlformats.org/officeDocument/2006/relationships/slide" Target="/ppt/slides/slide30.xml" Id="Re17ce6977bed45f0" /><Relationship Type="http://schemas.openxmlformats.org/officeDocument/2006/relationships/slide" Target="/ppt/slides/slide31.xml" Id="Rf897749ac55440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7d6f0a9d5648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46579dc75a4d3e" /><Relationship Type="http://schemas.openxmlformats.org/officeDocument/2006/relationships/notesMaster" Target="/ppt/notesMasters/notesMaster1.xml" Id="R479f2e2d1e1147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856f396bdf4fa2" /><Relationship Type="http://schemas.openxmlformats.org/officeDocument/2006/relationships/notesMaster" Target="/ppt/notesMasters/notesMaster1.xml" Id="R809b008e4db042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a5b2a7ce7e4048" /><Relationship Type="http://schemas.openxmlformats.org/officeDocument/2006/relationships/notesMaster" Target="/ppt/notesMasters/notesMaster1.xml" Id="Ra28a0b1d144f47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a41a9bbb974c17" /><Relationship Type="http://schemas.openxmlformats.org/officeDocument/2006/relationships/notesMaster" Target="/ppt/notesMasters/notesMaster1.xml" Id="R79511f805bf34e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e036e597f34217" /><Relationship Type="http://schemas.openxmlformats.org/officeDocument/2006/relationships/notesMaster" Target="/ppt/notesMasters/notesMaster1.xml" Id="R0cb380f135c64c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5983880ef84bb8" /><Relationship Type="http://schemas.openxmlformats.org/officeDocument/2006/relationships/notesMaster" Target="/ppt/notesMasters/notesMaster1.xml" Id="R845943b1b58e46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1e8545aee0409f" /><Relationship Type="http://schemas.openxmlformats.org/officeDocument/2006/relationships/notesMaster" Target="/ppt/notesMasters/notesMaster1.xml" Id="Rd559ffd1969740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8c4b31bd2d4d91" /><Relationship Type="http://schemas.openxmlformats.org/officeDocument/2006/relationships/notesMaster" Target="/ppt/notesMasters/notesMaster1.xml" Id="R487ff5260d9543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914d8a9ed446f3" /><Relationship Type="http://schemas.openxmlformats.org/officeDocument/2006/relationships/notesMaster" Target="/ppt/notesMasters/notesMaster1.xml" Id="R8811a0bf105549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f2ae512a404711" /><Relationship Type="http://schemas.openxmlformats.org/officeDocument/2006/relationships/notesMaster" Target="/ppt/notesMasters/notesMaster1.xml" Id="R9641a452e90f4f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26efdf8c8143eb" /><Relationship Type="http://schemas.openxmlformats.org/officeDocument/2006/relationships/notesMaster" Target="/ppt/notesMasters/notesMaster1.xml" Id="R4b2f2979cf56473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04e5e8b3d4944b6" /><Relationship Type="http://schemas.openxmlformats.org/officeDocument/2006/relationships/notesMaster" Target="/ppt/notesMasters/notesMaster1.xml" Id="R1e8048a8a09f42e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f7ef2c0075a4a0d" /><Relationship Type="http://schemas.openxmlformats.org/officeDocument/2006/relationships/notesMaster" Target="/ppt/notesMasters/notesMaster1.xml" Id="Rf6caeb916ed24d9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2885955bcae40db" /><Relationship Type="http://schemas.openxmlformats.org/officeDocument/2006/relationships/notesMaster" Target="/ppt/notesMasters/notesMaster1.xml" Id="R3cf3e44052e14ed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fecb5b29665413e" /><Relationship Type="http://schemas.openxmlformats.org/officeDocument/2006/relationships/notesMaster" Target="/ppt/notesMasters/notesMaster1.xml" Id="R145d8a2b9730402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4d7f2b345d949cd" /><Relationship Type="http://schemas.openxmlformats.org/officeDocument/2006/relationships/notesMaster" Target="/ppt/notesMasters/notesMaster1.xml" Id="R3cc75ba38cf54b3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3e24e5c497041d9" /><Relationship Type="http://schemas.openxmlformats.org/officeDocument/2006/relationships/notesMaster" Target="/ppt/notesMasters/notesMaster1.xml" Id="Rbf0d039a857b4f0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d774f7f285a4ee7" /><Relationship Type="http://schemas.openxmlformats.org/officeDocument/2006/relationships/notesMaster" Target="/ppt/notesMasters/notesMaster1.xml" Id="R8106f077c036401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a241fcc211d4721" /><Relationship Type="http://schemas.openxmlformats.org/officeDocument/2006/relationships/notesMaster" Target="/ppt/notesMasters/notesMaster1.xml" Id="R83caea28b61844c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c46f92cbf2c4e87" /><Relationship Type="http://schemas.openxmlformats.org/officeDocument/2006/relationships/notesMaster" Target="/ppt/notesMasters/notesMaster1.xml" Id="Rfb3d588815044c0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9883a9671bb4dcc" /><Relationship Type="http://schemas.openxmlformats.org/officeDocument/2006/relationships/notesMaster" Target="/ppt/notesMasters/notesMaster1.xml" Id="Re379ea01a3414cd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4348bae17c546f7" /><Relationship Type="http://schemas.openxmlformats.org/officeDocument/2006/relationships/notesMaster" Target="/ppt/notesMasters/notesMaster1.xml" Id="R9eda24a02a6c4f5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771793a644a4eb6" /><Relationship Type="http://schemas.openxmlformats.org/officeDocument/2006/relationships/notesMaster" Target="/ppt/notesMasters/notesMaster1.xml" Id="R62d8df6686ef46e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a88f18201f14bc1" /><Relationship Type="http://schemas.openxmlformats.org/officeDocument/2006/relationships/notesMaster" Target="/ppt/notesMasters/notesMaster1.xml" Id="R15acc09d6a7e404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e67c0f617284d87" /><Relationship Type="http://schemas.openxmlformats.org/officeDocument/2006/relationships/notesMaster" Target="/ppt/notesMasters/notesMaster1.xml" Id="R874a4001a3cf452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29484894bf04bb3" /><Relationship Type="http://schemas.openxmlformats.org/officeDocument/2006/relationships/notesMaster" Target="/ppt/notesMasters/notesMaster1.xml" Id="R08ebbd321f5e47e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e3d09209e8943eb" /><Relationship Type="http://schemas.openxmlformats.org/officeDocument/2006/relationships/notesMaster" Target="/ppt/notesMasters/notesMaster1.xml" Id="R91c4c8bc4fb7400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b3e6a1fdcee4a81" /><Relationship Type="http://schemas.openxmlformats.org/officeDocument/2006/relationships/notesMaster" Target="/ppt/notesMasters/notesMaster1.xml" Id="Rf6779f7542e14fa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4c93a9774c342d8" /><Relationship Type="http://schemas.openxmlformats.org/officeDocument/2006/relationships/notesMaster" Target="/ppt/notesMasters/notesMaster1.xml" Id="R23cceda954544ff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d6297289d5646d9" /><Relationship Type="http://schemas.openxmlformats.org/officeDocument/2006/relationships/notesMaster" Target="/ppt/notesMasters/notesMaster1.xml" Id="R8c11d7e28a8d44d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9da3bd4d2594aed" /><Relationship Type="http://schemas.openxmlformats.org/officeDocument/2006/relationships/notesMaster" Target="/ppt/notesMasters/notesMaster1.xml" Id="R601683624fd447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Photography: User-provided Foundant assessment and reference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Photography: User-provided Foundant assessment and reference assets.</a:t>
            </a:r>
          </a:p>
          <a:p xmlns:a="http://schemas.openxmlformats.org/drawingml/2006/main">
            <a:r>
              <a:t>Source: https://andreiaferraz.com/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https://www.foundant.com/about/the-foundant-approach/</a:t>
            </a:r>
          </a:p>
          <a:p xmlns:a="http://schemas.openxmlformats.org/drawingml/2006/main">
            <a:r>
              <a:t>Compass dated snapshot: https://community.foundant.com/</a:t>
            </a:r>
          </a:p>
          <a:p xmlns:a="http://schemas.openxmlformats.org/drawingml/2006/main">
            <a:r>
              <a:t>Figures transcribed from the supplied October 2026 assessment, not live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https://www.foundant.com/about/the-foundant-approach/</a:t>
            </a:r>
          </a:p>
          <a:p xmlns:a="http://schemas.openxmlformats.org/drawingml/2006/main">
            <a:r>
              <a:t>Compass dated snapshot: https://community.foundant.com/</a:t>
            </a:r>
          </a:p>
          <a:p xmlns:a="http://schemas.openxmlformats.org/drawingml/2006/main">
            <a:r>
              <a:t>Figures transcribed from the supplied October 2026 assessment, not live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Photography: User-provided Foundant assessment and reference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Photography: https://images.unsplash.com/photo-1522071820081-009f0129c71c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https://www.foundant.com/solutions/grant-management-software/</a:t>
            </a:r>
          </a:p>
          <a:p xmlns:a="http://schemas.openxmlformats.org/drawingml/2006/main">
            <a:r>
              <a:t>https://www.smartsimple.com/solution/smartsimple-cloud-collaboration-platform</a:t>
            </a:r>
          </a:p>
          <a:p xmlns:a="http://schemas.openxmlformats.org/drawingml/2006/main">
            <a:r>
              <a:t>https://www.givingdata.com/product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Photography: User-provided Foundant assessment and reference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Photography: https://images.unsplash.com/photo-1528605248644-14dd04022da1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Photography: https://images.unsplash.com/photo-1523240795612-9a054b0db644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Photography: User-provided Foundant assessment and reference assets.</a:t>
            </a:r>
          </a:p>
          <a:p xmlns:a="http://schemas.openxmlformats.org/drawingml/2006/main">
            <a:r>
              <a:t>Photography: User-provided Foundant assessment and reference assets.</a:t>
            </a:r>
          </a:p>
          <a:p xmlns:a="http://schemas.openxmlformats.org/drawingml/2006/main">
            <a:r>
              <a:t>Photography: User-provided Foundant assessment and reference assets.</a:t>
            </a:r>
          </a:p>
          <a:p xmlns:a="http://schemas.openxmlformats.org/drawingml/2006/main">
            <a:r>
              <a:t>Photography: User-provided Foundant assessment and reference assets.</a:t>
            </a:r>
          </a:p>
          <a:p xmlns:a="http://schemas.openxmlformats.org/drawingml/2006/main">
            <a:r>
              <a:t>Photography: User-provided Foundant assessment and reference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0f78a6e80645c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c0d13087604fd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283bc50ab74ab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5a391f18d74f0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aa3a9af5d64bf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044fdc5a1042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DF696B-D4FC-4C01-B39A-7B99A2A3B1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1A6294C-2BBE-4BB5-8EEA-EADB03701AA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C69EFDE-D1E2-4695-B158-FFDD1BB96A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BCC2C9-025A-4809-98F3-54E058975D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7211720-2464-4095-90D0-F34F61FAAB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FDC585D-AE83-4B4E-9CF1-56EBB480A1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6FBD90-1F0A-4BBB-AF29-9B1684B14D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5345CE9-6AED-4657-AFCB-90891F2E725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5F4D19-67EB-45D2-A4CE-8CDD5D0C23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663B30-03A2-44AA-B7E2-005BC74BF6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6c7dfaea0e431e" /><Relationship Type="http://schemas.openxmlformats.org/officeDocument/2006/relationships/slideLayout" Target="/ppt/slideLayouts/slideLayout1.xml" Id="R595dcf864dc249d7" /><Relationship Type="http://schemas.openxmlformats.org/officeDocument/2006/relationships/slideLayout" Target="/ppt/slideLayouts/slideLayout2.xml" Id="R745c86e5462e4665" /><Relationship Type="http://schemas.openxmlformats.org/officeDocument/2006/relationships/slideLayout" Target="/ppt/slideLayouts/slideLayout3.xml" Id="R7f51edff62e84bae" /><Relationship Type="http://schemas.openxmlformats.org/officeDocument/2006/relationships/slideLayout" Target="/ppt/slideLayouts/slideLayout4.xml" Id="R979a5e6f35e74107" /><Relationship Type="http://schemas.openxmlformats.org/officeDocument/2006/relationships/slideLayout" Target="/ppt/slideLayouts/slideLayout5.xml" Id="R56dd3a347c1e4370" /><Relationship Type="http://schemas.openxmlformats.org/officeDocument/2006/relationships/slideLayout" Target="/ppt/slideLayouts/slideLayout6.xml" Id="R47c1dd20226a4e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5dcf864dc249d7"/>
    <p:sldLayoutId xmlns:r="http://schemas.openxmlformats.org/officeDocument/2006/relationships" id="2147483650" r:id="R745c86e5462e4665"/>
    <p:sldLayoutId xmlns:r="http://schemas.openxmlformats.org/officeDocument/2006/relationships" id="2147483651" r:id="R7f51edff62e84bae"/>
    <p:sldLayoutId xmlns:r="http://schemas.openxmlformats.org/officeDocument/2006/relationships" id="2147483652" r:id="R979a5e6f35e74107"/>
    <p:sldLayoutId xmlns:r="http://schemas.openxmlformats.org/officeDocument/2006/relationships" id="2147483653" r:id="R56dd3a347c1e4370"/>
    <p:sldLayoutId xmlns:r="http://schemas.openxmlformats.org/officeDocument/2006/relationships" id="2147483654" r:id="R47c1dd20226a4e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c352d4f8644948" /><Relationship Type="http://schemas.openxmlformats.org/officeDocument/2006/relationships/image" Target="/ppt/media/image.jpeg" Id="R73d3111d14654f61" /><Relationship Type="http://schemas.openxmlformats.org/officeDocument/2006/relationships/notesSlide" Target="/ppt/notesSlides/notesSlide1.xml" Id="R1a22f057aee94c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14f2bf503047ae" /><Relationship Type="http://schemas.openxmlformats.org/officeDocument/2006/relationships/image" Target="/ppt/media/image2.jpeg" Id="Rb0c82a0eefc547eb" /><Relationship Type="http://schemas.openxmlformats.org/officeDocument/2006/relationships/hyperlink" Target="https://andreiaferraz.com/" TargetMode="External" Id="Rca6d7a6aa247431a" /><Relationship Type="http://schemas.openxmlformats.org/officeDocument/2006/relationships/notesSlide" Target="/ppt/notesSlides/notesSlide2.xml" Id="Ra165250d775549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f1fd32d3cf436a" /><Relationship Type="http://schemas.openxmlformats.org/officeDocument/2006/relationships/notesSlide" Target="/ppt/notesSlides/notesSlide3.xml" Id="Rc1072d8c6dda47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34ce4b3979485a" /><Relationship Type="http://schemas.openxmlformats.org/officeDocument/2006/relationships/hyperlink" Target="https://www.foundant.com/about/the-foundant-approach/" TargetMode="External" Id="R0b1ccc5352894051" /><Relationship Type="http://schemas.openxmlformats.org/officeDocument/2006/relationships/notesSlide" Target="/ppt/notesSlides/notesSlide4.xml" Id="R6c88bfcbe4db4c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8e79b6d0924f0f" /><Relationship Type="http://schemas.openxmlformats.org/officeDocument/2006/relationships/hyperlink" Target="https://www.foundant.com/about/the-foundant-approach/" TargetMode="External" Id="R73ffb918c4824af3" /><Relationship Type="http://schemas.openxmlformats.org/officeDocument/2006/relationships/notesSlide" Target="/ppt/notesSlides/notesSlide5.xml" Id="R9b51e9ec4f4342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d8b75e8b2c441a" /><Relationship Type="http://schemas.openxmlformats.org/officeDocument/2006/relationships/notesSlide" Target="/ppt/notesSlides/notesSlide6.xml" Id="R6e651a8e7fcd44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402e0db50d47e4" /><Relationship Type="http://schemas.openxmlformats.org/officeDocument/2006/relationships/notesSlide" Target="/ppt/notesSlides/notesSlide7.xml" Id="R101ba220e83f49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391a167e3d42f5" /><Relationship Type="http://schemas.openxmlformats.org/officeDocument/2006/relationships/notesSlide" Target="/ppt/notesSlides/notesSlide8.xml" Id="R00142fd2b05044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389c510ddf4610" /><Relationship Type="http://schemas.openxmlformats.org/officeDocument/2006/relationships/notesSlide" Target="/ppt/notesSlides/notesSlide9.xml" Id="R489140d0a087479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1ce6668ec24e9f" /><Relationship Type="http://schemas.openxmlformats.org/officeDocument/2006/relationships/image" Target="/ppt/media/image.bin" Id="R6b6af3f1e35749f8" /><Relationship Type="http://schemas.openxmlformats.org/officeDocument/2006/relationships/notesSlide" Target="/ppt/notesSlides/notesSlide10.xml" Id="R3627c1e5485f418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ada1c584614769" /><Relationship Type="http://schemas.openxmlformats.org/officeDocument/2006/relationships/notesSlide" Target="/ppt/notesSlides/notesSlide11.xml" Id="R9e5adfb6d40348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07f08db9ad47fa" /><Relationship Type="http://schemas.openxmlformats.org/officeDocument/2006/relationships/image" Target="/ppt/media/image3.jpeg" Id="Rbffaa670183f475e" /><Relationship Type="http://schemas.openxmlformats.org/officeDocument/2006/relationships/notesSlide" Target="/ppt/notesSlides/notesSlide12.xml" Id="R7fa8f39a71d844b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4870cccdb44ba4" /><Relationship Type="http://schemas.openxmlformats.org/officeDocument/2006/relationships/notesSlide" Target="/ppt/notesSlides/notesSlide13.xml" Id="Rea0090c7889149c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f29b01d3f84d45" /><Relationship Type="http://schemas.openxmlformats.org/officeDocument/2006/relationships/notesSlide" Target="/ppt/notesSlides/notesSlide14.xml" Id="Rb29b56fbbbb6499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5c8238593f43e8" /><Relationship Type="http://schemas.openxmlformats.org/officeDocument/2006/relationships/hyperlink" Target="https://www.foundant.com/solutions/grant-management-software/" TargetMode="External" Id="R6d0fbfb30170419b" /><Relationship Type="http://schemas.openxmlformats.org/officeDocument/2006/relationships/notesSlide" Target="/ppt/notesSlides/notesSlide15.xml" Id="Rd2009d9f2d2e4a8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da95d8734441ac" /><Relationship Type="http://schemas.openxmlformats.org/officeDocument/2006/relationships/notesSlide" Target="/ppt/notesSlides/notesSlide16.xml" Id="Rf6182b161c9d49c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57830d89854661" /><Relationship Type="http://schemas.openxmlformats.org/officeDocument/2006/relationships/hyperlink" Target="https://vimeo.com/715712480?fl=pl&amp;fe=cm" TargetMode="External" Id="R69faf9f3553b4f0f" /><Relationship Type="http://schemas.openxmlformats.org/officeDocument/2006/relationships/notesSlide" Target="/ppt/notesSlides/notesSlide17.xml" Id="R4faedb7b89fa439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bc6bb653d34aed" /><Relationship Type="http://schemas.openxmlformats.org/officeDocument/2006/relationships/notesSlide" Target="/ppt/notesSlides/notesSlide18.xml" Id="Rc8da106006c74d6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dc2716d30e4b5a" /><Relationship Type="http://schemas.openxmlformats.org/officeDocument/2006/relationships/image" Target="/ppt/media/image4.jpeg" Id="Rb373a48181174d4b" /><Relationship Type="http://schemas.openxmlformats.org/officeDocument/2006/relationships/notesSlide" Target="/ppt/notesSlides/notesSlide19.xml" Id="Ree47074f2369497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246873e3474456" /><Relationship Type="http://schemas.openxmlformats.org/officeDocument/2006/relationships/notesSlide" Target="/ppt/notesSlides/notesSlide20.xml" Id="R0005a519ef9745a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f44eb6baf94ce3" /><Relationship Type="http://schemas.openxmlformats.org/officeDocument/2006/relationships/notesSlide" Target="/ppt/notesSlides/notesSlide21.xml" Id="R00bf3baef2ec4bf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cd0f3eadc9477a" /><Relationship Type="http://schemas.openxmlformats.org/officeDocument/2006/relationships/image" Target="/ppt/media/image5.jpeg" Id="R337402df42d14084" /><Relationship Type="http://schemas.openxmlformats.org/officeDocument/2006/relationships/notesSlide" Target="/ppt/notesSlides/notesSlide22.xml" Id="Rdb8f514cf54b485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2663fec8aa4392" /><Relationship Type="http://schemas.openxmlformats.org/officeDocument/2006/relationships/notesSlide" Target="/ppt/notesSlides/notesSlide23.xml" Id="R2f64e29dc8364f7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e76815d0484fa8" /><Relationship Type="http://schemas.openxmlformats.org/officeDocument/2006/relationships/notesSlide" Target="/ppt/notesSlides/notesSlide24.xml" Id="R6d15989fc80447b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c95ca0d66e4963" /><Relationship Type="http://schemas.openxmlformats.org/officeDocument/2006/relationships/notesSlide" Target="/ppt/notesSlides/notesSlide25.xml" Id="Rc7e8165b6ca544b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2093cf61744548" /><Relationship Type="http://schemas.openxmlformats.org/officeDocument/2006/relationships/notesSlide" Target="/ppt/notesSlides/notesSlide26.xml" Id="R1eb24861ccb44ce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b2cd84e05d4f1f" /><Relationship Type="http://schemas.openxmlformats.org/officeDocument/2006/relationships/image" Target="/ppt/media/image6.jpeg" Id="Rc0af493daf464cec" /><Relationship Type="http://schemas.openxmlformats.org/officeDocument/2006/relationships/notesSlide" Target="/ppt/notesSlides/notesSlide27.xml" Id="R1f7197055d46416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3158625a114864" /><Relationship Type="http://schemas.openxmlformats.org/officeDocument/2006/relationships/notesSlide" Target="/ppt/notesSlides/notesSlide28.xml" Id="Rcdf918e84be8417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4c6d14f0b444b1" /><Relationship Type="http://schemas.openxmlformats.org/officeDocument/2006/relationships/notesSlide" Target="/ppt/notesSlides/notesSlide29.xml" Id="R41c09a97fe65412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b60c15152c4b42" /><Relationship Type="http://schemas.openxmlformats.org/officeDocument/2006/relationships/image" Target="/ppt/media/image7.jpeg" Id="R7bd1ce3f1cf24fe5" /><Relationship Type="http://schemas.openxmlformats.org/officeDocument/2006/relationships/image" Target="/ppt/media/image8.jpeg" Id="R226cf5da79b14d6c" /><Relationship Type="http://schemas.openxmlformats.org/officeDocument/2006/relationships/image" Target="/ppt/media/image9.jpeg" Id="R266942da718640b2" /><Relationship Type="http://schemas.openxmlformats.org/officeDocument/2006/relationships/image" Target="/ppt/media/image10.jpeg" Id="R6514562ebdbc4572" /><Relationship Type="http://schemas.openxmlformats.org/officeDocument/2006/relationships/image" Target="/ppt/media/image11.jpeg" Id="R90c777dec76f462b" /><Relationship Type="http://schemas.openxmlformats.org/officeDocument/2006/relationships/notesSlide" Target="/ppt/notesSlides/notesSlide30.xml" Id="R18869321b2524d3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0986ca25a64099" /><Relationship Type="http://schemas.openxmlformats.org/officeDocument/2006/relationships/hyperlink" Target="https://andreiaferraz.com/" TargetMode="External" Id="Rd9a7bac9e5fa4cba" /><Relationship Type="http://schemas.openxmlformats.org/officeDocument/2006/relationships/notesSlide" Target="/ppt/notesSlides/notesSlide31.xml" Id="R6b14868c07d243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82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E06ECE-0387-40EF-9C7D-2579020C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>
                <a:solidFill>
                  <a:srgbClr val="C5E86C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050">
                <a:solidFill>
                  <a:srgbClr val="C5E86C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C5E86C"/>
                </a:solidFill>
                <a:latin typeface="Lato"/>
                <a:ea typeface="Lato"/>
                <a:cs typeface="Lato"/>
              </a:rPr>
              <a:t>BRAND FOUNDATIONS 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0606A-0843-4519-B406-FE79E958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F4F3F0"/>
                </a:solidFill>
                <a:latin typeface="Lato"/>
                <a:ea typeface="Lato"/>
                <a:cs typeface="Lato"/>
              </a:rPr>
              <a:t>ANDREIA FERRAZ / BRAND 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93CF2-8ECB-472C-A705-321B3A36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F4F3F0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16976-DBA0-41D7-B3EA-5BF182FF54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d3111d14654f61"/>
          <a:srcRect xmlns:a="http://schemas.openxmlformats.org/drawingml/2006/main" l="0" t="11115" r="0" b="111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762000"/>
            <a:ext cx="12192000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318D9-A83E-4B07-AE71-9E119F7B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6750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6750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pPr>
            <a:r>
              <a:rPr sz="6750">
                <a:solidFill>
                  <a:srgbClr val="F4F3F0"/>
                </a:solidFill>
                <a:latin typeface="Georgia"/>
                <a:ea typeface="Georgia"/>
                <a:cs typeface="Georgia"/>
              </a:rPr>
              <a:t>Brand</a:t>
            </a:r>
          </a:p>
          <a:p xmlns:a="http://schemas.openxmlformats.org/drawingml/2006/main">
            <a:pPr>
              <a:defRPr sz="6750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pPr>
            <a:r>
              <a:rPr sz="6750">
                <a:solidFill>
                  <a:srgbClr val="F4F3F0"/>
                </a:solidFill>
                <a:latin typeface="Georgia"/>
                <a:ea typeface="Georgia"/>
                <a:cs typeface="Georgia"/>
              </a:rPr>
              <a:t>foundations.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BB886-73FC-4628-9525-4DE7A7A6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>
                <a:solidFill>
                  <a:srgbClr val="C5E86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625">
                <a:solidFill>
                  <a:srgbClr val="C5E86C"/>
                </a:solidFill>
                <a:latin typeface="Georgia"/>
                <a:ea typeface="Georgia"/>
                <a:cs typeface="Georgia"/>
              </a:defRPr>
            </a:pPr>
            <a:r>
              <a:rPr sz="2625">
                <a:solidFill>
                  <a:srgbClr val="C5E86C"/>
                </a:solidFill>
                <a:latin typeface="Georgia"/>
                <a:ea typeface="Georgia"/>
                <a:cs typeface="Georgia"/>
              </a:rPr>
              <a:t>Where we stand. Where I’d start.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37D60-3A2A-491A-8356-C46B20FF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2100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2100">
                <a:solidFill>
                  <a:srgbClr val="F4F3F0"/>
                </a:solidFill>
                <a:latin typeface="Lato"/>
                <a:ea typeface="Lato"/>
                <a:cs typeface="Lato"/>
              </a:rPr>
              <a:t>A six-month approach to amplify good.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4C16D-A2B1-412E-B326-7B4C698A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500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1500">
                <a:solidFill>
                  <a:srgbClr val="F4F3F0"/>
                </a:solidFill>
                <a:latin typeface="Lato"/>
                <a:ea typeface="Lato"/>
                <a:cs typeface="Lato"/>
              </a:rPr>
              <a:t>ANDREIA FERRAZ · Senior Brand Designer</a:t>
            </a:r>
          </a:p>
          <a:p xmlns:a="http://schemas.openxmlformats.org/drawingml/2006/main">
            <a:pPr>
              <a:defRPr sz="1500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1500">
                <a:solidFill>
                  <a:srgbClr val="F4F3F0"/>
                </a:solidFill>
                <a:latin typeface="Lato"/>
                <a:ea typeface="Lato"/>
                <a:cs typeface="Lato"/>
              </a:rPr>
              <a:t>An outside-in perspective / October 2026</a:t>
            </a:r>
          </a:p>
        </p:txBody>
      </p:sp>
    </p:spTree>
    <p:extLst>
      <p:ext uri="{BB962C8B-B14F-4D97-AF65-F5344CB8AC3E}">
        <p14:creationId xmlns:p14="http://schemas.microsoft.com/office/powerpoint/2010/main" val="9656961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FD7D97-A96D-4355-8BE8-FD6D1277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050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007377"/>
                </a:solidFill>
                <a:latin typeface="Lato"/>
                <a:ea typeface="Lato"/>
                <a:cs typeface="Lato"/>
              </a:rPr>
              <a:t>ABOUT ANDREIA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527D0-4884-422D-8CCF-D1B2B3B5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183029"/>
                </a:solidFill>
                <a:latin typeface="Lato"/>
                <a:ea typeface="Lato"/>
                <a:cs typeface="Lato"/>
              </a:rPr>
              <a:t>ANDREIA FERRAZ / BRAND 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57BEF-6DDC-4EC0-9344-3835B7B5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183029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B86C34-496F-4E08-8F1C-C87EE4B1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695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9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9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3975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Systems with clarity.</a:t>
            </a:r>
          </a:p>
          <a:p xmlns:a="http://schemas.openxmlformats.org/drawingml/2006/main">
            <a:pPr>
              <a:defRPr sz="39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3975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Design with purpose.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125A4-69E6-498A-9AD2-279F2DD42E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c82a0eefc547eb"/>
          <a:srcRect xmlns:a="http://schemas.openxmlformats.org/drawingml/2006/main" l="12222" t="0" r="122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6750" y="1095375"/>
            <a:ext cx="3238500" cy="4286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1BDF1-61C7-454A-B5DB-38B7233E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704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95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950">
                <a:solidFill>
                  <a:srgbClr val="183029"/>
                </a:solidFill>
                <a:latin typeface="Lato"/>
                <a:ea typeface="Lato"/>
                <a:cs typeface="Lato"/>
              </a:rPr>
              <a:t>I’m Andreia Ferraz, a Senior Brand Designer with over 15 years of experience in brand systems, campaigns, and presentations across healthcare, education, technology, and complex organizations.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483FC-05A9-447E-AC81-905A5CEC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704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95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950">
                <a:solidFill>
                  <a:srgbClr val="183029"/>
                </a:solidFill>
                <a:latin typeface="Lato"/>
                <a:ea typeface="Lato"/>
                <a:cs typeface="Lato"/>
              </a:rPr>
              <a:t>I combine clear, consistent systems with hands-on design. Foundant’s mission to amplify social good—and the challenge of connecting multiple products under one brand while speaking clearly to each audience—is what drew me to this role.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534500-F578-4E65-A788-39B9A40F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769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975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975">
                <a:solidFill>
                  <a:srgbClr val="007377"/>
                </a:solidFill>
                <a:latin typeface="Lato"/>
                <a:ea typeface="Lato"/>
                <a:cs typeface="Lato"/>
                <a:hlinkClick xmlns:r="http://schemas.openxmlformats.org/officeDocument/2006/relationships" r:id="Rca6d7a6aa247431a"/>
              </a:rPr>
              <a:t>andreiaferraz.com ↗</a:t>
            </a:r>
          </a:p>
        </p:txBody>
      </p:sp>
    </p:spTree>
    <p:extLst>
      <p:ext uri="{BB962C8B-B14F-4D97-AF65-F5344CB8AC3E}">
        <p14:creationId xmlns:p14="http://schemas.microsoft.com/office/powerpoint/2010/main" val="6590484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B04BDF-E570-4705-9B06-297369C9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050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007377"/>
                </a:solidFill>
                <a:latin typeface="Lato"/>
                <a:ea typeface="Lato"/>
                <a:cs typeface="Lato"/>
              </a:rPr>
              <a:t>THE SIX DIMENSIONS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F8FBD-96C7-4DB0-890C-242970B1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183029"/>
                </a:solidFill>
                <a:latin typeface="Lato"/>
                <a:ea typeface="Lato"/>
                <a:cs typeface="Lato"/>
              </a:rPr>
              <a:t>ANDREIA FERRAZ / BRAND 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960DF-9DB7-4B3E-8885-F286CD9F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183029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0C2DC-55ED-4E07-8B6C-98249977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4875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00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3600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6 dimensions. 1 connected experience.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08B78-FE9D-4AFD-9A0C-9698277E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800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1800">
                <a:solidFill>
                  <a:srgbClr val="007377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9E9BC-5A49-4892-8662-1147E3DE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02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Human Support &amp; Service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8ED24-010C-4BD6-BA2E-FF3EC27E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461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183029"/>
                </a:solidFill>
                <a:latin typeface="Lato"/>
                <a:ea typeface="Lato"/>
                <a:cs typeface="Lato"/>
              </a:rPr>
              <a:t>People who help clients succeed—not only resolve tickets.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3A893-D458-483A-8F78-0A132362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800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1800">
                <a:solidFill>
                  <a:srgbClr val="007377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EA380-896C-4598-825A-6E8B4D2F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02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Sector-Aligned Knowledge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B63CAF-D847-4D99-BCA4-37A1FF0A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24150"/>
            <a:ext cx="461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183029"/>
                </a:solidFill>
                <a:latin typeface="Lato"/>
                <a:ea typeface="Lato"/>
                <a:cs typeface="Lato"/>
              </a:rPr>
              <a:t>Guidance grounded in the realities of social-good organizations.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113A9-F38B-4D87-A6D6-56C5A553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099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800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1800">
                <a:solidFill>
                  <a:srgbClr val="007377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4EC1FD-7FC9-4B54-BDDB-5FA89669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02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Community Building &amp; Engagement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C5F002-1FD2-404D-B308-70C440C5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461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183029"/>
                </a:solidFill>
                <a:latin typeface="Lato"/>
                <a:ea typeface="Lato"/>
                <a:cs typeface="Lato"/>
              </a:rPr>
              <a:t>Peer connection and shared learning that extend client capacity.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ADFCE8-1A8D-4071-9F80-09D69534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99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800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1800">
                <a:solidFill>
                  <a:srgbClr val="007377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6297E3-199A-4258-B384-0FC3F2BC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9950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02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Active, Purposeful Listening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9D3DBE-3239-44DF-9B60-37D9E6A0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38600"/>
            <a:ext cx="461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183029"/>
                </a:solidFill>
                <a:latin typeface="Lato"/>
                <a:ea typeface="Lato"/>
                <a:cs typeface="Lato"/>
              </a:rPr>
              <a:t>Feedback that leads to visible decisions and closes the loop.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DF5670-3446-4EB2-A652-2A7E8F9D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244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800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1800">
                <a:solidFill>
                  <a:srgbClr val="007377"/>
                </a:solidFill>
                <a:latin typeface="Lato"/>
                <a:ea typeface="Lato"/>
                <a:cs typeface="Lato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D5344E-115A-4A3A-A1CE-75C1907B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02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Intelligence &amp; Insight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EE99F0-053D-4FE5-8183-652B290C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53050"/>
            <a:ext cx="461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183029"/>
                </a:solidFill>
                <a:latin typeface="Lato"/>
                <a:ea typeface="Lato"/>
                <a:cs typeface="Lato"/>
              </a:rPr>
              <a:t>Information translated into useful, trusted understanding.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5D5B90-D897-4509-88E5-E7ED55C7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244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800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1800">
                <a:solidFill>
                  <a:srgbClr val="007377"/>
                </a:solidFill>
                <a:latin typeface="Lato"/>
                <a:ea typeface="Lato"/>
                <a:cs typeface="Lato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F9B3F0-33E2-4F25-A2C0-2AE5BFD0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24400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02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Purpose-Built Technology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769FD3-EF38-47CF-8A8B-57828B71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53050"/>
            <a:ext cx="461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183029"/>
                </a:solidFill>
                <a:latin typeface="Lato"/>
                <a:ea typeface="Lato"/>
                <a:cs typeface="Lato"/>
              </a:rPr>
              <a:t>Tools designed around the work clients actually need to do.</a:t>
            </a:r>
          </a:p>
        </p:txBody>
      </p:sp>
    </p:spTree>
    <p:extLst>
      <p:ext uri="{BB962C8B-B14F-4D97-AF65-F5344CB8AC3E}">
        <p14:creationId xmlns:p14="http://schemas.microsoft.com/office/powerpoint/2010/main" val="2830827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80EFB2-77F5-44A1-B18E-04AEAA5C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050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007377"/>
                </a:solidFill>
                <a:latin typeface="Lato"/>
                <a:ea typeface="Lato"/>
                <a:cs typeface="Lato"/>
              </a:rPr>
              <a:t>EVIDENCE / THE HUMAN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EF03B-542D-4C3C-B40A-2EA2F49E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183029"/>
                </a:solidFill>
                <a:latin typeface="Lato"/>
                <a:ea typeface="Lato"/>
                <a:cs typeface="Lato"/>
              </a:rPr>
              <a:t>ANDREIA FERRAZ / BRAND 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A9BFF-7E7C-43BF-A592-8FD97545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183029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A921AD-F0D1-4AE1-8CC0-3B5C4DB4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12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412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4125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The human foundation.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F2ADF-A46D-4960-A56A-46058A5C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342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9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49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pPr>
            <a:r>
              <a:rPr sz="4950">
                <a:solidFill>
                  <a:srgbClr val="007377"/>
                </a:solidFill>
                <a:latin typeface="Georgia"/>
                <a:ea typeface="Georgia"/>
                <a:cs typeface="Georgia"/>
              </a:rPr>
              <a:t>98%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AF60B-5571-4CCE-A868-2E6A901B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3381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100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2100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Human Support &amp; Service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AD7AA2-063D-46A2-9EBF-0259FB3C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3381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8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800">
                <a:solidFill>
                  <a:srgbClr val="183029"/>
                </a:solidFill>
                <a:latin typeface="Lato"/>
                <a:ea typeface="Lato"/>
                <a:cs typeface="Lato"/>
              </a:rPr>
              <a:t>Support satisfaction in 2025.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800">
                <a:solidFill>
                  <a:srgbClr val="183029"/>
                </a:solidFill>
                <a:latin typeface="Lato"/>
                <a:ea typeface="Lato"/>
                <a:cs typeface="Lato"/>
              </a:rPr>
              <a:t>A tangible expression of the care clients value.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160A3C-EE24-4B18-A3DB-FC36D5A8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86000"/>
            <a:ext cx="342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9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49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pPr>
            <a:r>
              <a:rPr sz="4950">
                <a:solidFill>
                  <a:srgbClr val="007377"/>
                </a:solidFill>
                <a:latin typeface="Georgia"/>
                <a:ea typeface="Georgia"/>
                <a:cs typeface="Georgia"/>
              </a:rPr>
              <a:t>40%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67526-D9AE-4624-B623-3E40E165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38500"/>
            <a:ext cx="3381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100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2100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Sector-Aligned Knowledge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F0F6D8-C85A-4D09-B3E2-91A1A345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91000"/>
            <a:ext cx="3381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8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800">
                <a:solidFill>
                  <a:srgbClr val="183029"/>
                </a:solidFill>
                <a:latin typeface="Lato"/>
                <a:ea typeface="Lato"/>
                <a:cs typeface="Lato"/>
              </a:rPr>
              <a:t>Team members with philanthropy experience.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800">
                <a:solidFill>
                  <a:srgbClr val="183029"/>
                </a:solidFill>
                <a:latin typeface="Lato"/>
                <a:ea typeface="Lato"/>
                <a:cs typeface="Lato"/>
              </a:rPr>
              <a:t>Knowledge grounded in the social-good sector.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EBFB89-14C5-455F-A779-4D0B2FBB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342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9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49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pPr>
            <a:r>
              <a:rPr sz="4950">
                <a:solidFill>
                  <a:srgbClr val="007377"/>
                </a:solidFill>
                <a:latin typeface="Georgia"/>
                <a:ea typeface="Georgia"/>
                <a:cs typeface="Georgia"/>
              </a:rPr>
              <a:t>4,900+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7FC3F-80DD-499B-8BCE-FA842FE2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38500"/>
            <a:ext cx="3381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100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2100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Community Building &amp; Engagement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42A080-834F-45C0-B386-2618F591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91000"/>
            <a:ext cx="3381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8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800">
                <a:solidFill>
                  <a:srgbClr val="183029"/>
                </a:solidFill>
                <a:latin typeface="Lato"/>
                <a:ea typeface="Lato"/>
                <a:cs typeface="Lato"/>
              </a:rPr>
              <a:t>Compass community members.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800">
                <a:solidFill>
                  <a:srgbClr val="183029"/>
                </a:solidFill>
                <a:latin typeface="Lato"/>
                <a:ea typeface="Lato"/>
                <a:cs typeface="Lato"/>
              </a:rPr>
              <a:t>Peer connection extends client capacity.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C19646-D55A-4882-9D81-D52C8808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0547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05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183029"/>
                </a:solidFill>
                <a:latin typeface="Lato"/>
                <a:ea typeface="Lato"/>
                <a:cs typeface="Lato"/>
              </a:rPr>
              <a:t>6,347 members on Compass, Oct 9, 2026. Different dates and definitions.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4A07A8-C2E3-4170-8DA4-3E47A3AF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769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975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975">
                <a:solidFill>
                  <a:srgbClr val="007377"/>
                </a:solidFill>
                <a:latin typeface="Lato"/>
                <a:ea typeface="Lato"/>
                <a:cs typeface="Lato"/>
                <a:hlinkClick xmlns:r="http://schemas.openxmlformats.org/officeDocument/2006/relationships" r:id="R0b1ccc5352894051"/>
              </a:rPr>
              <a:t>Foundant approach · Compass ↗</a:t>
            </a:r>
          </a:p>
        </p:txBody>
      </p:sp>
    </p:spTree>
    <p:extLst>
      <p:ext uri="{BB962C8B-B14F-4D97-AF65-F5344CB8AC3E}">
        <p14:creationId xmlns:p14="http://schemas.microsoft.com/office/powerpoint/2010/main" val="17543791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1A3653-AB6E-4A13-BE21-5BD76D33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050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007377"/>
                </a:solidFill>
                <a:latin typeface="Lato"/>
                <a:ea typeface="Lato"/>
                <a:cs typeface="Lato"/>
              </a:rPr>
              <a:t>EVIDENCE / THE PROMISE IN 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563B4-A954-4628-81FD-8DC63083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183029"/>
                </a:solidFill>
                <a:latin typeface="Lato"/>
                <a:ea typeface="Lato"/>
                <a:cs typeface="Lato"/>
              </a:rPr>
              <a:t>ANDREIA FERRAZ / BRAND 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FF245-3192-4268-89FE-BBC0DE9C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183029"/>
                </a:solidFill>
                <a:latin typeface="Lato"/>
                <a:ea typeface="Lato"/>
                <a:cs typeface="Lat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041F3-8B46-4FB6-9F1B-C4E8049C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12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412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4125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The promise in practice.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FF0AE-BBC6-4897-ACED-989581BF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342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9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49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pPr>
            <a:r>
              <a:rPr sz="4950">
                <a:solidFill>
                  <a:srgbClr val="007377"/>
                </a:solidFill>
                <a:latin typeface="Georgia"/>
                <a:ea typeface="Georgia"/>
                <a:cs typeface="Georgia"/>
              </a:rPr>
              <a:t>398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01FE8-3BB1-4DAE-8C77-6C0AA015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3381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100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2100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Active, Purposeful Listening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373DB-932C-4DC7-BE76-E16B32E8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3381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8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800">
                <a:solidFill>
                  <a:srgbClr val="183029"/>
                </a:solidFill>
                <a:latin typeface="Lato"/>
                <a:ea typeface="Lato"/>
                <a:cs typeface="Lato"/>
              </a:rPr>
              <a:t>Idea Lab ideas implemented in 2024.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800">
                <a:solidFill>
                  <a:srgbClr val="183029"/>
                </a:solidFill>
                <a:latin typeface="Lato"/>
                <a:ea typeface="Lato"/>
                <a:cs typeface="Lato"/>
              </a:rPr>
              <a:t>Listening goes beyond claims.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489B3E-9048-4BAC-A823-58F6B47F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86000"/>
            <a:ext cx="342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9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49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pPr>
            <a:r>
              <a:rPr sz="4950">
                <a:solidFill>
                  <a:srgbClr val="007377"/>
                </a:solidFill>
                <a:latin typeface="Georgia"/>
                <a:ea typeface="Georgia"/>
                <a:cs typeface="Georgia"/>
              </a:rPr>
              <a:t>120+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50843-2228-47FA-B1A9-BDDFFA7A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38500"/>
            <a:ext cx="3381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100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2100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Intelligence &amp; Insight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A85D0-F5B4-4954-8562-87498B6A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91000"/>
            <a:ext cx="3381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8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800">
                <a:solidFill>
                  <a:srgbClr val="183029"/>
                </a:solidFill>
                <a:latin typeface="Lato"/>
                <a:ea typeface="Lato"/>
                <a:cs typeface="Lato"/>
              </a:rPr>
              <a:t>Dashboard widgets.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800">
                <a:solidFill>
                  <a:srgbClr val="183029"/>
                </a:solidFill>
                <a:latin typeface="Lato"/>
                <a:ea typeface="Lato"/>
                <a:cs typeface="Lato"/>
              </a:rPr>
              <a:t>Information becomes useful understanding.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0AD19-393F-418E-B9D0-A5E5343C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342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9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49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pPr>
            <a:r>
              <a:rPr sz="4950">
                <a:solidFill>
                  <a:srgbClr val="007377"/>
                </a:solidFill>
                <a:latin typeface="Georgia"/>
                <a:ea typeface="Georgia"/>
                <a:cs typeface="Georgia"/>
              </a:rPr>
              <a:t>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E061ED-B7CF-4282-916E-196A160B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38500"/>
            <a:ext cx="3381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100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2100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Purpose-Built Technology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DA6305-6FD3-4A8B-AB9B-5E3143EC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91000"/>
            <a:ext cx="3381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8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800">
                <a:solidFill>
                  <a:srgbClr val="183029"/>
                </a:solidFill>
                <a:latin typeface="Lato"/>
                <a:ea typeface="Lato"/>
                <a:cs typeface="Lato"/>
              </a:rPr>
              <a:t>Products in the Foundant family.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800">
                <a:solidFill>
                  <a:srgbClr val="183029"/>
                </a:solidFill>
                <a:latin typeface="Lato"/>
                <a:ea typeface="Lato"/>
                <a:cs typeface="Lato"/>
              </a:rPr>
              <a:t>CommunitySuite, GLM, SLM, SmartSimple, GivingData and Fia.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34137C-9C80-4FB7-B6F9-58C3AE54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769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975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975">
                <a:solidFill>
                  <a:srgbClr val="007377"/>
                </a:solidFill>
                <a:latin typeface="Lato"/>
                <a:ea typeface="Lato"/>
                <a:cs typeface="Lato"/>
                <a:hlinkClick xmlns:r="http://schemas.openxmlformats.org/officeDocument/2006/relationships" r:id="R73ffb918c4824af3"/>
              </a:rPr>
              <a:t>Foundant approach · Compass ↗</a:t>
            </a:r>
          </a:p>
        </p:txBody>
      </p:sp>
    </p:spTree>
    <p:extLst>
      <p:ext uri="{BB962C8B-B14F-4D97-AF65-F5344CB8AC3E}">
        <p14:creationId xmlns:p14="http://schemas.microsoft.com/office/powerpoint/2010/main" val="7098377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30A98F-3AB2-40FC-BD0E-CBC75502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050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007377"/>
                </a:solidFill>
                <a:latin typeface="Lato"/>
                <a:ea typeface="Lato"/>
                <a:cs typeface="Lato"/>
              </a:rPr>
              <a:t>FROM EVIDENCE TO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7EEBE-3F91-4EAB-9B07-57EB3B21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183029"/>
                </a:solidFill>
                <a:latin typeface="Lato"/>
                <a:ea typeface="Lato"/>
                <a:cs typeface="Lato"/>
              </a:rPr>
              <a:t>ANDREIA FERRAZ / BRAND 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5D5A7-2E7A-44C1-9430-2BB50547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183029"/>
                </a:solidFill>
                <a:latin typeface="Lato"/>
                <a:ea typeface="Lato"/>
                <a:cs typeface="Lato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38D8A-3010-478E-A6B0-2E971821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9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9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3975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Turn capability into client value.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060D5-006A-4AC6-A691-236E6D61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9875"/>
            <a:ext cx="3390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pPr>
            <a:r>
              <a:rPr sz="2250">
                <a:solidFill>
                  <a:srgbClr val="007377"/>
                </a:solidFill>
                <a:latin typeface="Georgia"/>
                <a:ea typeface="Georgia"/>
                <a:cs typeface="Georgia"/>
              </a:rPr>
              <a:t>Show the people behind the software.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E44DA7-1134-4E70-9203-DBCCAECF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38575"/>
            <a:ext cx="33909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202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2025">
                <a:solidFill>
                  <a:srgbClr val="183029"/>
                </a:solidFill>
                <a:latin typeface="Lato"/>
                <a:ea typeface="Lato"/>
                <a:cs typeface="Lato"/>
              </a:rPr>
              <a:t>“Meet the people behind the 98%.”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74AF3B-00AC-485E-91CD-F28CF646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09875"/>
            <a:ext cx="3390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pPr>
            <a:r>
              <a:rPr sz="2250">
                <a:solidFill>
                  <a:srgbClr val="007377"/>
                </a:solidFill>
                <a:latin typeface="Georgia"/>
                <a:ea typeface="Georgia"/>
                <a:cs typeface="Georgia"/>
              </a:rPr>
              <a:t>Match expertise to the audience.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FAD5F-ABE6-42F4-ADAF-0BC61394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38575"/>
            <a:ext cx="33909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202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2025">
                <a:solidFill>
                  <a:srgbClr val="183029"/>
                </a:solidFill>
                <a:latin typeface="Lato"/>
                <a:ea typeface="Lato"/>
                <a:cs typeface="Lato"/>
              </a:rPr>
              <a:t>“Built by people from your seat.”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E6371E-60C3-4CA4-8999-974D31D6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09875"/>
            <a:ext cx="3390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pPr>
            <a:r>
              <a:rPr sz="2250">
                <a:solidFill>
                  <a:srgbClr val="007377"/>
                </a:solidFill>
                <a:latin typeface="Georgia"/>
                <a:ea typeface="Georgia"/>
                <a:cs typeface="Georgia"/>
              </a:rPr>
              <a:t>Share knowledge and create impact together.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17287-2C66-469B-B01E-57BDDEF2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38575"/>
            <a:ext cx="33909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202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2025">
                <a:solidFill>
                  <a:srgbClr val="183029"/>
                </a:solidFill>
                <a:latin typeface="Lato"/>
                <a:ea typeface="Lato"/>
                <a:cs typeface="Lato"/>
              </a:rPr>
              <a:t>“What works for one client can help many.”</a:t>
            </a:r>
          </a:p>
        </p:txBody>
      </p:sp>
    </p:spTree>
    <p:extLst>
      <p:ext uri="{BB962C8B-B14F-4D97-AF65-F5344CB8AC3E}">
        <p14:creationId xmlns:p14="http://schemas.microsoft.com/office/powerpoint/2010/main" val="3272321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FEB966-D76C-4687-9235-B51BEC51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050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007377"/>
                </a:solidFill>
                <a:latin typeface="Lato"/>
                <a:ea typeface="Lato"/>
                <a:cs typeface="Lato"/>
              </a:rPr>
              <a:t>FROM EVIDENCE TO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A3262-0B85-402D-A011-E0A04F23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183029"/>
                </a:solidFill>
                <a:latin typeface="Lato"/>
                <a:ea typeface="Lato"/>
                <a:cs typeface="Lato"/>
              </a:rPr>
              <a:t>ANDREIA FERRAZ / BRAND 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CF660-61EE-489A-B97C-5D34AA5C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183029"/>
                </a:solidFill>
                <a:latin typeface="Lato"/>
                <a:ea typeface="Lato"/>
                <a:cs typeface="Lato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A4700-3705-4C4D-A0AF-4C7274C0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9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9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3975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Make the promise visible.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602F4-3941-49A6-851E-561B1912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9875"/>
            <a:ext cx="3390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pPr>
            <a:r>
              <a:rPr sz="2250">
                <a:solidFill>
                  <a:srgbClr val="007377"/>
                </a:solidFill>
                <a:latin typeface="Georgia"/>
                <a:ea typeface="Georgia"/>
                <a:cs typeface="Georgia"/>
              </a:rPr>
              <a:t>Connect a request to a release.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1EF53-76CF-4014-96B2-2E18A931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38575"/>
            <a:ext cx="33909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202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2025">
                <a:solidFill>
                  <a:srgbClr val="183029"/>
                </a:solidFill>
                <a:latin typeface="Lato"/>
                <a:ea typeface="Lato"/>
                <a:cs typeface="Lato"/>
              </a:rPr>
              <a:t>“You said. We built.”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6AC30-7B1D-4E92-835F-54576F3A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09875"/>
            <a:ext cx="3390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pPr>
            <a:r>
              <a:rPr sz="2250">
                <a:solidFill>
                  <a:srgbClr val="007377"/>
                </a:solidFill>
                <a:latin typeface="Georgia"/>
                <a:ea typeface="Georgia"/>
                <a:cs typeface="Georgia"/>
              </a:rPr>
              <a:t>Show an answer with its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9D1732-5743-4667-9F13-C932217E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38575"/>
            <a:ext cx="33909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202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2025">
                <a:solidFill>
                  <a:srgbClr val="183029"/>
                </a:solidFill>
                <a:latin typeface="Lato"/>
                <a:ea typeface="Lato"/>
                <a:cs typeface="Lato"/>
              </a:rPr>
              <a:t>“Fia, with its sources showing.”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24482-93D2-4214-B1B3-D7C11542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09875"/>
            <a:ext cx="3390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pPr>
            <a:r>
              <a:rPr sz="2250">
                <a:solidFill>
                  <a:srgbClr val="007377"/>
                </a:solidFill>
                <a:latin typeface="Georgia"/>
                <a:ea typeface="Georgia"/>
                <a:cs typeface="Georgia"/>
              </a:rPr>
              <a:t>Make the decision clear.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ED77D-31A7-4A0A-A953-364F89A2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38575"/>
            <a:ext cx="33909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202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2025">
                <a:solidFill>
                  <a:srgbClr val="183029"/>
                </a:solidFill>
                <a:latin typeface="Lato"/>
                <a:ea typeface="Lato"/>
                <a:cs typeface="Lato"/>
              </a:rPr>
              <a:t>“Find your fit.”</a:t>
            </a:r>
          </a:p>
        </p:txBody>
      </p:sp>
    </p:spTree>
    <p:extLst>
      <p:ext uri="{BB962C8B-B14F-4D97-AF65-F5344CB8AC3E}">
        <p14:creationId xmlns:p14="http://schemas.microsoft.com/office/powerpoint/2010/main" val="10490752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830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4A73CB-3DEB-4C6B-A4E7-9B97CE0A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>
                <a:solidFill>
                  <a:srgbClr val="C5E86C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050">
                <a:solidFill>
                  <a:srgbClr val="C5E86C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C5E86C"/>
                </a:solidFill>
                <a:latin typeface="Lato"/>
                <a:ea typeface="Lato"/>
                <a:cs typeface="Lato"/>
              </a:rPr>
              <a:t>BRAND FOUNDATIONS /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AB620-72FC-4B0D-9AF5-98A4FFC7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F4F3F0"/>
                </a:solidFill>
                <a:latin typeface="Lato"/>
                <a:ea typeface="Lato"/>
                <a:cs typeface="Lato"/>
              </a:rPr>
              <a:t>ANDREIA FERRAZ / BRAND 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BEDE8-8C29-4C89-8DC8-2C74E43A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F4F3F0"/>
                </a:solidFill>
                <a:latin typeface="Lato"/>
                <a:ea typeface="Lato"/>
                <a:cs typeface="Lato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25AF8-0788-4850-A100-B1EDCCD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238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875">
                <a:solidFill>
                  <a:srgbClr val="C5E86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10875">
                <a:solidFill>
                  <a:srgbClr val="C5E86C"/>
                </a:solidFill>
                <a:latin typeface="Georgia"/>
                <a:ea typeface="Georgia"/>
                <a:cs typeface="Georgia"/>
              </a:defRPr>
            </a:pPr>
            <a:r>
              <a:rPr sz="10875">
                <a:solidFill>
                  <a:srgbClr val="C5E86C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4465E-275E-4111-8EEB-B35D4612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7905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175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5175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pPr>
            <a:r>
              <a:rPr sz="5175">
                <a:solidFill>
                  <a:srgbClr val="F4F3F0"/>
                </a:solidFill>
                <a:latin typeface="Georgia"/>
                <a:ea typeface="Georgia"/>
                <a:cs typeface="Georgia"/>
              </a:rPr>
              <a:t>What stands out.</a:t>
            </a:r>
          </a:p>
        </p:txBody>
      </p:sp>
    </p:spTree>
    <p:extLst>
      <p:ext uri="{BB962C8B-B14F-4D97-AF65-F5344CB8AC3E}">
        <p14:creationId xmlns:p14="http://schemas.microsoft.com/office/powerpoint/2010/main" val="15647646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D7FC06-8E03-40D0-81D0-5B214299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050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007377"/>
                </a:solidFill>
                <a:latin typeface="Lato"/>
                <a:ea typeface="Lato"/>
                <a:cs typeface="Lato"/>
              </a:rPr>
              <a:t>01 / THE STRENGTH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16B2D-17B3-4088-82A4-B0DAE0E8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183029"/>
                </a:solidFill>
                <a:latin typeface="Lato"/>
                <a:ea typeface="Lato"/>
                <a:cs typeface="Lato"/>
              </a:rPr>
              <a:t>ANDREIA FERRAZ / BRAND 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E77F4-0005-4431-B648-404C7209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183029"/>
                </a:solidFill>
                <a:latin typeface="Lato"/>
                <a:ea typeface="Lato"/>
                <a:cs typeface="Lato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35637-1E14-4A26-BEBF-497459A1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12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412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4125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Client centricity is</a:t>
            </a:r>
          </a:p>
          <a:p xmlns:a="http://schemas.openxmlformats.org/drawingml/2006/main">
            <a:pPr>
              <a:defRPr sz="412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4125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the heart of the company.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DC34C-FB08-47BB-90B1-11F4EBFE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3390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pPr>
            <a:r>
              <a:rPr sz="2250">
                <a:solidFill>
                  <a:srgbClr val="007377"/>
                </a:solidFill>
                <a:latin typeface="Georgia"/>
                <a:ea typeface="Georgia"/>
                <a:cs typeface="Georgia"/>
              </a:rPr>
              <a:t>Purpose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DBC479-BF75-47F0-96AC-5546093C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86200"/>
            <a:ext cx="33909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202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2025">
                <a:solidFill>
                  <a:srgbClr val="183029"/>
                </a:solidFill>
                <a:latin typeface="Lato"/>
                <a:ea typeface="Lato"/>
                <a:cs typeface="Lato"/>
              </a:rPr>
              <a:t>Amplify good.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2025">
                <a:solidFill>
                  <a:srgbClr val="183029"/>
                </a:solidFill>
                <a:latin typeface="Lato"/>
                <a:ea typeface="Lato"/>
                <a:cs typeface="Lato"/>
              </a:rPr>
              <a:t>How working together helps people.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8D233-996F-4CA7-B932-9668392B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3390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pPr>
            <a:r>
              <a:rPr sz="2250">
                <a:solidFill>
                  <a:srgbClr val="007377"/>
                </a:solidFill>
                <a:latin typeface="Georgia"/>
                <a:ea typeface="Georgia"/>
                <a:cs typeface="Georgia"/>
              </a:rPr>
              <a:t>Conviction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0E33C6-6E92-45AC-A28B-839E3D61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86200"/>
            <a:ext cx="33909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202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2025">
                <a:solidFill>
                  <a:srgbClr val="183029"/>
                </a:solidFill>
                <a:latin typeface="Lato"/>
                <a:ea typeface="Lato"/>
                <a:cs typeface="Lato"/>
              </a:rPr>
              <a:t>Human connection.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2025">
                <a:solidFill>
                  <a:srgbClr val="183029"/>
                </a:solidFill>
                <a:latin typeface="Lato"/>
                <a:ea typeface="Lato"/>
                <a:cs typeface="Lato"/>
              </a:rPr>
              <a:t>How good grows.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F6740C-9D00-4793-A848-043814F2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57500"/>
            <a:ext cx="3390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pPr>
            <a:r>
              <a:rPr sz="2250">
                <a:solidFill>
                  <a:srgbClr val="007377"/>
                </a:solidFill>
                <a:latin typeface="Georgia"/>
                <a:ea typeface="Georgia"/>
                <a:cs typeface="Georgia"/>
              </a:rPr>
              <a:t>Brand idea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26EAA6-4092-4979-BE9A-4DE9E95A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86200"/>
            <a:ext cx="33909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202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2025">
                <a:solidFill>
                  <a:srgbClr val="183029"/>
                </a:solidFill>
                <a:latin typeface="Lato"/>
                <a:ea typeface="Lato"/>
                <a:cs typeface="Lato"/>
              </a:rPr>
              <a:t>An engine for good.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2025">
                <a:solidFill>
                  <a:srgbClr val="183029"/>
                </a:solidFill>
                <a:latin typeface="Lato"/>
                <a:ea typeface="Lato"/>
                <a:cs typeface="Lato"/>
              </a:rPr>
              <a:t>Technology, sector expertise, and support in one relationship.</a:t>
            </a:r>
          </a:p>
        </p:txBody>
      </p:sp>
    </p:spTree>
    <p:extLst>
      <p:ext uri="{BB962C8B-B14F-4D97-AF65-F5344CB8AC3E}">
        <p14:creationId xmlns:p14="http://schemas.microsoft.com/office/powerpoint/2010/main" val="18920113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830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A81CB-C8FE-4249-B3CC-A0CB3011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>
                <a:solidFill>
                  <a:srgbClr val="C5E86C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050">
                <a:solidFill>
                  <a:srgbClr val="C5E86C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C5E86C"/>
                </a:solidFill>
                <a:latin typeface="Lato"/>
                <a:ea typeface="Lato"/>
                <a:cs typeface="Lato"/>
              </a:rPr>
              <a:t>THE HUMAN CONNECTION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C1A701-410C-4302-AC6B-33FB5FC9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F4F3F0"/>
                </a:solidFill>
                <a:latin typeface="Lato"/>
                <a:ea typeface="Lato"/>
                <a:cs typeface="Lato"/>
              </a:rPr>
              <a:t>ANDREIA FERRAZ / BRAND 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CD99F-C74C-4E71-80FF-0D964A6C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F4F3F0"/>
                </a:solidFill>
                <a:latin typeface="Lato"/>
                <a:ea typeface="Lato"/>
                <a:cs typeface="Lato"/>
              </a:rPr>
              <a:t>10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EFC36-E5B2-40B0-80AE-0691D2D8B2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6af3f1e35749f8"/>
          <a:srcRect xmlns:a="http://schemas.openxmlformats.org/drawingml/2006/main" l="1256" t="0" r="12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800100"/>
            <a:ext cx="4667250" cy="5238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E3C33-CC35-4044-9088-3577CBE4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6191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525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pPr>
            <a:r>
              <a:rPr sz="3525">
                <a:solidFill>
                  <a:srgbClr val="F4F3F0"/>
                </a:solidFill>
                <a:latin typeface="Georgia"/>
                <a:ea typeface="Georgia"/>
                <a:cs typeface="Georgia"/>
              </a:rPr>
              <a:t>Foundations don’t</a:t>
            </a:r>
          </a:p>
          <a:p xmlns:a="http://schemas.openxmlformats.org/drawingml/2006/main">
            <a:pPr>
              <a:defRPr sz="3525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pPr>
            <a:r>
              <a:rPr sz="3525">
                <a:solidFill>
                  <a:srgbClr val="F4F3F0"/>
                </a:solidFill>
                <a:latin typeface="Georgia"/>
                <a:ea typeface="Georgia"/>
                <a:cs typeface="Georgia"/>
              </a:rPr>
              <a:t>buy features.</a:t>
            </a:r>
          </a:p>
          <a:p xmlns:a="http://schemas.openxmlformats.org/drawingml/2006/main">
            <a:pPr>
              <a:defRPr sz="3525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pPr>
            <a:r>
              <a:rPr sz="3525">
                <a:solidFill>
                  <a:srgbClr val="F4F3F0"/>
                </a:solidFill>
                <a:latin typeface="Georgia"/>
                <a:ea typeface="Georgia"/>
                <a:cs typeface="Georgia"/>
              </a:rPr>
              <a:t>They buy back time for the relationships that matter.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79AB4-EA04-4855-AA4B-EF69B544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609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C5E86C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725">
                <a:solidFill>
                  <a:srgbClr val="C5E86C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C5E86C"/>
                </a:solidFill>
                <a:latin typeface="Lato"/>
                <a:ea typeface="Lato"/>
                <a:cs typeface="Lato"/>
              </a:rPr>
              <a:t>“Engine for good” becomes compelling when clients can see what it helps them do.</a:t>
            </a:r>
          </a:p>
        </p:txBody>
      </p:sp>
    </p:spTree>
    <p:extLst>
      <p:ext uri="{BB962C8B-B14F-4D97-AF65-F5344CB8AC3E}">
        <p14:creationId xmlns:p14="http://schemas.microsoft.com/office/powerpoint/2010/main" val="11004103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F477B8-DD7F-4468-AF27-A619520A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050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007377"/>
                </a:solidFill>
                <a:latin typeface="Lato"/>
                <a:ea typeface="Lato"/>
                <a:cs typeface="Lato"/>
              </a:rPr>
              <a:t>01 / DIFFERENTIATION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012A5-D242-4BD4-86A9-E4F15AAD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183029"/>
                </a:solidFill>
                <a:latin typeface="Lato"/>
                <a:ea typeface="Lato"/>
                <a:cs typeface="Lato"/>
              </a:rPr>
              <a:t>ANDREIA FERRAZ / BRAND 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5B630-65A5-49AC-A3FE-901B164D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183029"/>
                </a:solidFill>
                <a:latin typeface="Lato"/>
                <a:ea typeface="Lato"/>
                <a:cs typeface="Lato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6C664-84B0-44E5-A64D-08FFF547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3675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The combination is more meaningful</a:t>
            </a:r>
          </a:p>
          <a:p xmlns:a="http://schemas.openxmlformats.org/drawingml/2006/main">
            <a:pPr>
              <a:defRPr sz="36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3675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than any dimension alone.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2B42BE-256F-46E8-B157-E8E13DC4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666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75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007377"/>
                </a:solidFill>
                <a:latin typeface="Lato"/>
                <a:ea typeface="Lato"/>
                <a:cs typeface="Lato"/>
              </a:rPr>
              <a:t>Human Support &amp; Service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50320-7987-4E82-A323-A3B73CFE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619375"/>
            <a:ext cx="1666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75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007377"/>
                </a:solidFill>
                <a:latin typeface="Lato"/>
                <a:ea typeface="Lato"/>
                <a:cs typeface="Lato"/>
              </a:rPr>
              <a:t>Sector-Aligned Knowledge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C939B-48C7-4190-8425-05413F04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19375"/>
            <a:ext cx="1666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75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007377"/>
                </a:solidFill>
                <a:latin typeface="Lato"/>
                <a:ea typeface="Lato"/>
                <a:cs typeface="Lato"/>
              </a:rPr>
              <a:t>Community Building &amp; Engagement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4AB6B-F390-4A12-A947-02884F4B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19375"/>
            <a:ext cx="1666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75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007377"/>
                </a:solidFill>
                <a:latin typeface="Lato"/>
                <a:ea typeface="Lato"/>
                <a:cs typeface="Lato"/>
              </a:rPr>
              <a:t>Active, Purposeful Listening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CEA246-BF7B-4817-95C1-67EC1431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19375"/>
            <a:ext cx="1666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75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007377"/>
                </a:solidFill>
                <a:latin typeface="Lato"/>
                <a:ea typeface="Lato"/>
                <a:cs typeface="Lato"/>
              </a:rPr>
              <a:t>Intelligence &amp; Insight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484547-2698-46E4-B9E1-B538EC0C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619375"/>
            <a:ext cx="1666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75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007377"/>
                </a:solidFill>
                <a:latin typeface="Lato"/>
                <a:ea typeface="Lato"/>
                <a:cs typeface="Lato"/>
              </a:rPr>
              <a:t>Purpose-Built Technology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64A50-1789-443C-9A40-C2C217A9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8" y="3476625"/>
            <a:ext cx="19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37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0B581D-3FD6-45E7-A1F9-E2BD6B49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8" y="3600450"/>
            <a:ext cx="88106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37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0618AD-D2AA-4EF8-ABB3-CAA343CA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37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41CC0B-AD29-4E63-9330-7FA9D9C4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342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E86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7162B5-C88F-4743-9BB3-C43A12B6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1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1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2175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Support &amp; 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978079-1F24-4CBC-987B-26B3A1CE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250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37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BD085D-AED3-473F-9DC0-4D80242B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313" y="3476625"/>
            <a:ext cx="19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37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A06706-3F5A-461D-8C20-D1BE4E4D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313" y="3714750"/>
            <a:ext cx="273843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37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775978-FD92-4E8A-93E2-78DAB4C7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1475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37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1C68C8-4368-4A3E-B15D-5AFD7744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00500"/>
            <a:ext cx="342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E86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7482EB-9802-4AA3-8A32-8D4F5CA3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481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1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1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2175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Sector knowledge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0C784D-56D4-42F0-812F-72CBA952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6250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37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641054-557A-47B5-AC97-35882A31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688" y="3476625"/>
            <a:ext cx="190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37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7C7533-8DAD-4B32-B1C5-88301E9D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688" y="3829050"/>
            <a:ext cx="459581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37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2FF95B-C601-436A-BAF2-C0AF9FAE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29050"/>
            <a:ext cx="1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377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6CB601-AAF6-4289-9FAF-0B568E58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00500"/>
            <a:ext cx="342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E86C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459B1D-1812-4526-A194-77F30D61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481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1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1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2175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Community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73E756-BCAE-4A95-8C91-1F191ECB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6250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377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D010FA-CEF7-409D-A58B-58649ACF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67325"/>
            <a:ext cx="742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377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7DF6B3-4CB7-455C-AA6E-4C865215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67325"/>
            <a:ext cx="19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377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B2F3CE-45FF-46BA-9619-36067BEE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92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92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2925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A promising combination worth validating.</a:t>
            </a:r>
          </a:p>
        </p:txBody>
      </p:sp>
    </p:spTree>
    <p:extLst>
      <p:ext uri="{BB962C8B-B14F-4D97-AF65-F5344CB8AC3E}">
        <p14:creationId xmlns:p14="http://schemas.microsoft.com/office/powerpoint/2010/main" val="12442585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830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0D65C-5BE2-47B5-A431-AD56EAE5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>
                <a:solidFill>
                  <a:srgbClr val="C5E86C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050">
                <a:solidFill>
                  <a:srgbClr val="C5E86C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C5E86C"/>
                </a:solidFill>
                <a:latin typeface="Lato"/>
                <a:ea typeface="Lato"/>
                <a:cs typeface="Lato"/>
              </a:rPr>
              <a:t>THE HUMAN CONNECTION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479FD-F814-493E-BA5E-2FE72D6B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F4F3F0"/>
                </a:solidFill>
                <a:latin typeface="Lato"/>
                <a:ea typeface="Lato"/>
                <a:cs typeface="Lato"/>
              </a:rPr>
              <a:t>ANDREIA FERRAZ / BRAND 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6CED5-574E-4CFA-8B3E-558F8319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F4F3F0"/>
                </a:solidFill>
                <a:latin typeface="Lato"/>
                <a:ea typeface="Lato"/>
                <a:cs typeface="Lato"/>
              </a:rPr>
              <a:t>12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40120-AD01-4F05-BF65-ED45F05BF6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faa670183f475e"/>
          <a:srcRect xmlns:a="http://schemas.openxmlformats.org/drawingml/2006/main" l="20288" t="0" r="202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800100"/>
            <a:ext cx="4667250" cy="5238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900CBD-0832-4F2E-AA6B-82CEDB3F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6191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525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pPr>
            <a:r>
              <a:rPr sz="3525">
                <a:solidFill>
                  <a:srgbClr val="F4F3F0"/>
                </a:solidFill>
                <a:latin typeface="Georgia"/>
                <a:ea typeface="Georgia"/>
                <a:cs typeface="Georgia"/>
              </a:rPr>
              <a:t>The strength is in the connection.</a:t>
            </a:r>
          </a:p>
          <a:p xmlns:a="http://schemas.openxmlformats.org/drawingml/2006/main">
            <a:pPr>
              <a:defRPr sz="3525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pPr>
            <a:r>
              <a:rPr sz="3525">
                <a:solidFill>
                  <a:srgbClr val="F4F3F0"/>
                </a:solidFill>
                <a:latin typeface="Georgia"/>
                <a:ea typeface="Georgia"/>
                <a:cs typeface="Georgia"/>
              </a:rPr>
              <a:t>The proof is in the client experience.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BAE92-2C8C-41F7-AB52-F32CDCC3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609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C5E86C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725">
                <a:solidFill>
                  <a:srgbClr val="C5E86C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C5E86C"/>
                </a:solidFill>
                <a:latin typeface="Lato"/>
                <a:ea typeface="Lato"/>
                <a:cs typeface="Lato"/>
              </a:rPr>
              <a:t>Make partnership visible through what clients can do.</a:t>
            </a:r>
          </a:p>
        </p:txBody>
      </p:sp>
    </p:spTree>
    <p:extLst>
      <p:ext uri="{BB962C8B-B14F-4D97-AF65-F5344CB8AC3E}">
        <p14:creationId xmlns:p14="http://schemas.microsoft.com/office/powerpoint/2010/main" val="9087742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830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83D46-B895-4E95-BBDF-0088811D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>
                <a:solidFill>
                  <a:srgbClr val="C5E86C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050">
                <a:solidFill>
                  <a:srgbClr val="C5E86C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C5E86C"/>
                </a:solidFill>
                <a:latin typeface="Lato"/>
                <a:ea typeface="Lato"/>
                <a:cs typeface="Lato"/>
              </a:rPr>
              <a:t>BRAND FOUNDATIONS /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484DA5-4D7A-499E-8B3C-24DBC791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F4F3F0"/>
                </a:solidFill>
                <a:latin typeface="Lato"/>
                <a:ea typeface="Lato"/>
                <a:cs typeface="Lato"/>
              </a:rPr>
              <a:t>ANDREIA FERRAZ / BRAND 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41E488-5BCF-4C6D-AD72-75D410A7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F4F3F0"/>
                </a:solidFill>
                <a:latin typeface="Lato"/>
                <a:ea typeface="Lato"/>
                <a:cs typeface="Lato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2E92F-C69A-45CA-977B-E56B4833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238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875">
                <a:solidFill>
                  <a:srgbClr val="C5E86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10875">
                <a:solidFill>
                  <a:srgbClr val="C5E86C"/>
                </a:solidFill>
                <a:latin typeface="Georgia"/>
                <a:ea typeface="Georgia"/>
                <a:cs typeface="Georgia"/>
              </a:defRPr>
            </a:pPr>
            <a:r>
              <a:rPr sz="10875">
                <a:solidFill>
                  <a:srgbClr val="C5E86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732865-CB3D-4FA4-A799-5D279C2C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7905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175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5175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pPr>
            <a:r>
              <a:rPr sz="5175">
                <a:solidFill>
                  <a:srgbClr val="F4F3F0"/>
                </a:solidFill>
                <a:latin typeface="Georgia"/>
                <a:ea typeface="Georgia"/>
                <a:cs typeface="Georgia"/>
              </a:rPr>
              <a:t>Challenges &amp;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6122433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52A7C2-536A-4213-9110-58A33ECD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050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007377"/>
                </a:solidFill>
                <a:latin typeface="Lato"/>
                <a:ea typeface="Lato"/>
                <a:cs typeface="Lato"/>
              </a:rPr>
              <a:t>02 / PRODUCTIVE TENSIONS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87015-B13E-4BE0-9CB6-8F33DD18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183029"/>
                </a:solidFill>
                <a:latin typeface="Lato"/>
                <a:ea typeface="Lato"/>
                <a:cs typeface="Lato"/>
              </a:rPr>
              <a:t>ANDREIA FERRAZ / BRAND 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D90C0-EF1E-4185-BB6F-6B1D2305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183029"/>
                </a:solidFill>
                <a:latin typeface="Lato"/>
                <a:ea typeface="Lato"/>
                <a:cs typeface="Lato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0D6A7-2BED-4D7A-AD95-57C43A46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4875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3675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The tensions are productive.</a:t>
            </a:r>
          </a:p>
          <a:p xmlns:a="http://schemas.openxmlformats.org/drawingml/2006/main">
            <a:pPr>
              <a:defRPr sz="36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3675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The ambiguity needs boundaries.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1D288-6080-4A48-B3BC-BE7050A4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3390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pPr>
            <a:r>
              <a:rPr sz="2250">
                <a:solidFill>
                  <a:srgbClr val="007377"/>
                </a:solidFill>
                <a:latin typeface="Georgia"/>
                <a:ea typeface="Georgia"/>
                <a:cs typeface="Georgia"/>
              </a:rPr>
              <a:t>One brand. Different entry points.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F56B4-FB52-495C-A939-D4A1FF48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90950"/>
            <a:ext cx="33909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183029"/>
                </a:solidFill>
                <a:latin typeface="Lato"/>
                <a:ea typeface="Lato"/>
                <a:cs typeface="Lato"/>
              </a:rPr>
              <a:t>Product names, websites, brands, and audiences can obscure the connection to Foundant.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183029"/>
                </a:solidFill>
                <a:latin typeface="Lato"/>
                <a:ea typeface="Lato"/>
                <a:cs typeface="Lato"/>
              </a:rPr>
              <a:t>What can differ, and what should stay consistent?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9CFA6-B974-483F-ACF0-683B88B1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62250"/>
            <a:ext cx="3390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pPr>
            <a:r>
              <a:rPr sz="2250">
                <a:solidFill>
                  <a:srgbClr val="007377"/>
                </a:solidFill>
                <a:latin typeface="Georgia"/>
                <a:ea typeface="Georgia"/>
                <a:cs typeface="Georgia"/>
              </a:rPr>
              <a:t>Several buying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75DDF-D1B4-4BE1-8D61-08620E65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90950"/>
            <a:ext cx="33909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183029"/>
                </a:solidFill>
                <a:latin typeface="Lato"/>
                <a:ea typeface="Lato"/>
                <a:cs typeface="Lato"/>
              </a:rPr>
              <a:t>GLM, GivingData, and SmartSimple serve overlapping audiences.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183029"/>
                </a:solidFill>
                <a:latin typeface="Lato"/>
                <a:ea typeface="Lato"/>
                <a:cs typeface="Lato"/>
              </a:rPr>
              <a:t>Can a visitor identify the right product, explain why, and choose a useful next step?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94410-8859-4CF2-855D-CCBB3680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62250"/>
            <a:ext cx="3390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pPr>
            <a:r>
              <a:rPr sz="2250">
                <a:solidFill>
                  <a:srgbClr val="007377"/>
                </a:solidFill>
                <a:latin typeface="Georgia"/>
                <a:ea typeface="Georgia"/>
                <a:cs typeface="Georgia"/>
              </a:rPr>
              <a:t>A clear commitment. An evolving story.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29B450-14B7-4392-8DAC-D98BAF02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90950"/>
            <a:ext cx="33909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183029"/>
                </a:solidFill>
                <a:latin typeface="Lato"/>
                <a:ea typeface="Lato"/>
                <a:cs typeface="Lato"/>
              </a:rPr>
              <a:t>Partnership is a clear commitment.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183029"/>
                </a:solidFill>
                <a:latin typeface="Lato"/>
                <a:ea typeface="Lato"/>
                <a:cs typeface="Lato"/>
              </a:rPr>
              <a:t>How can communication express its value more consistently at each stage?</a:t>
            </a:r>
          </a:p>
        </p:txBody>
      </p:sp>
    </p:spTree>
    <p:extLst>
      <p:ext uri="{BB962C8B-B14F-4D97-AF65-F5344CB8AC3E}">
        <p14:creationId xmlns:p14="http://schemas.microsoft.com/office/powerpoint/2010/main" val="15682879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DE442C-023D-4E41-B41F-0004B2B8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050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007377"/>
                </a:solidFill>
                <a:latin typeface="Lato"/>
                <a:ea typeface="Lato"/>
                <a:cs typeface="Lato"/>
              </a:rPr>
              <a:t>02 / THE VISITOR’S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95BEA-C1AD-4503-B13C-6D1F1725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183029"/>
                </a:solidFill>
                <a:latin typeface="Lato"/>
                <a:ea typeface="Lato"/>
                <a:cs typeface="Lato"/>
              </a:rPr>
              <a:t>ANDREIA FERRAZ / BRAND 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D6619-A8DF-4E1B-B903-CA20E646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183029"/>
                </a:solidFill>
                <a:latin typeface="Lato"/>
                <a:ea typeface="Lato"/>
                <a:cs typeface="Lato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C3E75-7FF2-4662-AA63-9F44443A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900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900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3900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“I found the options.</a:t>
            </a:r>
          </a:p>
          <a:p xmlns:a="http://schemas.openxmlformats.org/drawingml/2006/main">
            <a:pPr>
              <a:defRPr sz="3900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3900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Which one is mine?”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0FC04-D98E-42EE-B0B8-C3306962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2524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025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007377"/>
                </a:solidFill>
                <a:latin typeface="Georgia"/>
                <a:ea typeface="Georgia"/>
                <a:cs typeface="Georgia"/>
              </a:rPr>
              <a:t>01 / Foundant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5A2A9-AA77-435A-9CB6-918D5C5B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252412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183029"/>
                </a:solidFill>
                <a:latin typeface="Lato"/>
                <a:ea typeface="Lato"/>
                <a:cs typeface="Lato"/>
              </a:rPr>
              <a:t>A family foundation needs grantee relationships, multi-year planning, and multi-currency payments. Profile and requirements point to different products.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49D330-31F6-40E1-B27E-916D7764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762250"/>
            <a:ext cx="2524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025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007377"/>
                </a:solidFill>
                <a:latin typeface="Georgia"/>
                <a:ea typeface="Georgia"/>
                <a:cs typeface="Georgia"/>
              </a:rPr>
              <a:t>02 / SmartSimple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C1CEF-229F-4F0A-953E-18210FC9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476625"/>
            <a:ext cx="252412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183029"/>
                </a:solidFill>
                <a:latin typeface="Lato"/>
                <a:ea typeface="Lato"/>
                <a:cs typeface="Lato"/>
              </a:rPr>
              <a:t>The visitor reaches a broad platform about automation and configurability, then finds a separate grants-management entry.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974F0-EFEB-499D-9A58-AFE2EB3B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62250"/>
            <a:ext cx="2524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025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007377"/>
                </a:solidFill>
                <a:latin typeface="Georgia"/>
                <a:ea typeface="Georgia"/>
                <a:cs typeface="Georgia"/>
              </a:rPr>
              <a:t>03 / GivingData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3D1A95-1885-40BB-AA48-DB1B11D2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76625"/>
            <a:ext cx="252412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183029"/>
                </a:solidFill>
                <a:latin typeface="Lato"/>
                <a:ea typeface="Lato"/>
                <a:cs typeface="Lato"/>
              </a:rPr>
              <a:t>Enterprise also lists multi-currency requests and payments. The profile-aligned option meets the requirement too.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670457-EB8D-470C-89DA-1ED7F1D2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762250"/>
            <a:ext cx="2524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025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007377"/>
                </a:solidFill>
                <a:latin typeface="Georgia"/>
                <a:ea typeface="Georgia"/>
                <a:cs typeface="Georgia"/>
              </a:rPr>
              <a:t>04 / Decision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35F9E2-8676-4457-99E8-2609AE8A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476625"/>
            <a:ext cx="252412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183029"/>
                </a:solidFill>
                <a:latin typeface="Lato"/>
                <a:ea typeface="Lato"/>
                <a:cs typeface="Lato"/>
              </a:rPr>
              <a:t>GivingData Enterprise or SmartSimple? Different comparison criteria leave the choice with the visitor or a sales conversation.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1AD681-7418-4D13-8AD8-7A97D85E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769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975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975">
                <a:solidFill>
                  <a:srgbClr val="007377"/>
                </a:solidFill>
                <a:latin typeface="Lato"/>
                <a:ea typeface="Lato"/>
                <a:cs typeface="Lato"/>
                <a:hlinkClick xmlns:r="http://schemas.openxmlformats.org/officeDocument/2006/relationships" r:id="R6d0fbfb30170419b"/>
              </a:rPr>
              <a:t>Foundant solutions · SmartSimple · GivingData ↗</a:t>
            </a:r>
          </a:p>
        </p:txBody>
      </p:sp>
    </p:spTree>
    <p:extLst>
      <p:ext uri="{BB962C8B-B14F-4D97-AF65-F5344CB8AC3E}">
        <p14:creationId xmlns:p14="http://schemas.microsoft.com/office/powerpoint/2010/main" val="8329767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46813C-867B-48CD-AAF8-F1728B15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050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007377"/>
                </a:solidFill>
                <a:latin typeface="Lato"/>
                <a:ea typeface="Lato"/>
                <a:cs typeface="Lato"/>
              </a:rPr>
              <a:t>02 / SOCIAL CHANNELS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024C09-2E12-44C0-8A1F-E4CB88B0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183029"/>
                </a:solidFill>
                <a:latin typeface="Lato"/>
                <a:ea typeface="Lato"/>
                <a:cs typeface="Lato"/>
              </a:rPr>
              <a:t>ANDREIA FERRAZ / BRAND 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56999-B996-4868-9B1B-4881D9FE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183029"/>
                </a:solidFill>
                <a:latin typeface="Lato"/>
                <a:ea typeface="Lato"/>
                <a:cs typeface="Lato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818A08-8B0A-4EE8-AD73-0B982BC9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3675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Social media. An experience to connect.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B86DC-0A69-44CE-A7CF-49898E70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3390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pPr>
            <a:r>
              <a:rPr sz="2250">
                <a:solidFill>
                  <a:srgbClr val="007377"/>
                </a:solidFill>
                <a:latin typeface="Georgia"/>
                <a:ea typeface="Georgia"/>
                <a:cs typeface="Georgia"/>
              </a:rPr>
              <a:t>Community engagement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30D29-CB97-4E22-82B1-CA89C5F2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90950"/>
            <a:ext cx="33909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95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950">
                <a:solidFill>
                  <a:srgbClr val="183029"/>
                </a:solidFill>
                <a:latin typeface="Lato"/>
                <a:ea typeface="Lato"/>
                <a:cs typeface="Lato"/>
              </a:rPr>
              <a:t>Shared knowledge. Ongoing dialogue.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950">
                <a:solidFill>
                  <a:srgbClr val="183029"/>
                </a:solidFill>
                <a:latin typeface="Lato"/>
                <a:ea typeface="Lato"/>
                <a:cs typeface="Lato"/>
              </a:rPr>
              <a:t>Encourage participation and learning.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65F0E-686F-4407-AACF-71BB8540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62250"/>
            <a:ext cx="3390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pPr>
            <a:r>
              <a:rPr sz="2250">
                <a:solidFill>
                  <a:srgbClr val="007377"/>
                </a:solidFill>
                <a:latin typeface="Georgia"/>
                <a:ea typeface="Georgia"/>
                <a:cs typeface="Georgia"/>
              </a:rPr>
              <a:t>Human connection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25BF7D-EE9E-4B7A-B4F8-9D4CEE7F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90950"/>
            <a:ext cx="33909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95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950">
                <a:solidFill>
                  <a:srgbClr val="183029"/>
                </a:solidFill>
                <a:latin typeface="Lato"/>
                <a:ea typeface="Lato"/>
                <a:cs typeface="Lato"/>
              </a:rPr>
              <a:t>Experienced people. Visible partnership.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950">
                <a:solidFill>
                  <a:srgbClr val="183029"/>
                </a:solidFill>
                <a:latin typeface="Lato"/>
                <a:ea typeface="Lato"/>
                <a:cs typeface="Lato"/>
              </a:rPr>
              <a:t>Show the relationships that make the difference.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4E2A8-8939-4888-A43C-3E575703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62250"/>
            <a:ext cx="3390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pPr>
            <a:r>
              <a:rPr sz="2250">
                <a:solidFill>
                  <a:srgbClr val="007377"/>
                </a:solidFill>
                <a:latin typeface="Georgia"/>
                <a:ea typeface="Georgia"/>
                <a:cs typeface="Georgia"/>
              </a:rPr>
              <a:t>Product relevance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ACDE04-7B81-4A4B-9797-602407D5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90950"/>
            <a:ext cx="33909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95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950">
                <a:solidFill>
                  <a:srgbClr val="183029"/>
                </a:solidFill>
                <a:latin typeface="Lato"/>
                <a:ea typeface="Lato"/>
                <a:cs typeface="Lato"/>
              </a:rPr>
              <a:t>Everyday challenges. Clearer possibilities.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950">
                <a:solidFill>
                  <a:srgbClr val="183029"/>
                </a:solidFill>
                <a:latin typeface="Lato"/>
                <a:ea typeface="Lato"/>
                <a:cs typeface="Lato"/>
              </a:rPr>
              <a:t>Help prospective clients recognize their needs and explore the right solution.</a:t>
            </a:r>
          </a:p>
        </p:txBody>
      </p:sp>
    </p:spTree>
    <p:extLst>
      <p:ext uri="{BB962C8B-B14F-4D97-AF65-F5344CB8AC3E}">
        <p14:creationId xmlns:p14="http://schemas.microsoft.com/office/powerpoint/2010/main" val="33892808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6A6E92-EA67-46B7-B4FB-33F39C31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050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007377"/>
                </a:solidFill>
                <a:latin typeface="Lato"/>
                <a:ea typeface="Lato"/>
                <a:cs typeface="Lato"/>
              </a:rPr>
              <a:t>02 / VIDEO STORIES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36536-0979-4678-B0BF-38628FAB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183029"/>
                </a:solidFill>
                <a:latin typeface="Lato"/>
                <a:ea typeface="Lato"/>
                <a:cs typeface="Lato"/>
              </a:rPr>
              <a:t>ANDREIA FERRAZ / BRAND 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E69FB-A3EE-43A6-9B8D-78C9DECA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183029"/>
                </a:solidFill>
                <a:latin typeface="Lato"/>
                <a:ea typeface="Lato"/>
                <a:cs typeface="Lato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90821-8057-4537-BD86-729D2E0D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4875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9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9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3975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One story structure.</a:t>
            </a:r>
          </a:p>
          <a:p xmlns:a="http://schemas.openxmlformats.org/drawingml/2006/main">
            <a:pPr>
              <a:defRPr sz="39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3975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Many ways to put it to 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99546-7E33-4046-A959-0A9768C0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95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950">
                <a:solidFill>
                  <a:srgbClr val="183029"/>
                </a:solidFill>
                <a:latin typeface="Lato"/>
                <a:ea typeface="Lato"/>
                <a:cs typeface="Lato"/>
              </a:rPr>
              <a:t>Guide the conversation with thoughtful questions. Give people space to share their experience in their own words.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E3B48-9880-411D-909B-8D85FF21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2550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2550">
                <a:solidFill>
                  <a:srgbClr val="007377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057282-EAB3-4089-A4D0-1CC5BD9C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8150"/>
            <a:ext cx="1857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1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2175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Before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007A2-B841-4838-BC66-403E4929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6195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2550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2550">
                <a:solidFill>
                  <a:srgbClr val="007377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3D7465-B489-4178-86EA-83BE56BC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248150"/>
            <a:ext cx="1857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1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2175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What was at stake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112C6-7909-4603-B22F-98EF8294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195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2550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2550">
                <a:solidFill>
                  <a:srgbClr val="007377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6F0428-6803-44E2-9696-D8C84464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48150"/>
            <a:ext cx="1857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1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2175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Turning point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DAF71-DE21-4535-9165-1E5EFB72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6195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2550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2550">
                <a:solidFill>
                  <a:srgbClr val="007377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8DCA1B-4A03-4C4A-86CD-FB015F48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248150"/>
            <a:ext cx="1857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1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2175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What changed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4692B4-4DD9-42AA-A3BC-B64BB9ED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195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2550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2550">
                <a:solidFill>
                  <a:srgbClr val="007377"/>
                </a:solidFill>
                <a:latin typeface="Lato"/>
                <a:ea typeface="Lato"/>
                <a:cs typeface="Lato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5CDCED-5321-461A-B44F-EB33AC95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248150"/>
            <a:ext cx="1857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1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2175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What they can do now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98238D-6476-48E0-AD97-689E3A99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054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350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1350">
                <a:solidFill>
                  <a:srgbClr val="007377"/>
                </a:solidFill>
                <a:latin typeface="Lato"/>
                <a:ea typeface="Lato"/>
                <a:cs typeface="Lato"/>
              </a:rPr>
              <a:t>ONE INTERVIEW / FIVE ASSETS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BA2167-277D-46AF-ACE2-27F7BE2C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8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800">
                <a:solidFill>
                  <a:srgbClr val="183029"/>
                </a:solidFill>
                <a:latin typeface="Lato"/>
                <a:ea typeface="Lato"/>
                <a:cs typeface="Lato"/>
              </a:rPr>
              <a:t>Full story · 60–90s cut · Quote card · Social post · Sales one-pager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BDAF6A-4E54-47DF-B73A-DA09EEA0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00775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200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1200">
                <a:solidFill>
                  <a:srgbClr val="007377"/>
                </a:solidFill>
                <a:latin typeface="Lato"/>
                <a:ea typeface="Lato"/>
                <a:cs typeface="Lato"/>
                <a:hlinkClick xmlns:r="http://schemas.openxmlformats.org/officeDocument/2006/relationships" r:id="R69faf9f3553b4f0f"/>
              </a:rPr>
              <a:t>Human stories need authenticity</a:t>
            </a:r>
          </a:p>
        </p:txBody>
      </p:sp>
    </p:spTree>
    <p:extLst>
      <p:ext uri="{BB962C8B-B14F-4D97-AF65-F5344CB8AC3E}">
        <p14:creationId xmlns:p14="http://schemas.microsoft.com/office/powerpoint/2010/main" val="15448475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439AD-80B8-437A-A30C-B9EB2D68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050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007377"/>
                </a:solidFill>
                <a:latin typeface="Lato"/>
                <a:ea typeface="Lato"/>
                <a:cs typeface="Lato"/>
              </a:rPr>
              <a:t>02 / PHOTOGRAPHY &amp; IMAGERY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935C7-213D-4DFF-8C44-C53C3D7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183029"/>
                </a:solidFill>
                <a:latin typeface="Lato"/>
                <a:ea typeface="Lato"/>
                <a:cs typeface="Lato"/>
              </a:rPr>
              <a:t>ANDREIA FERRAZ / BRAND 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ED3FB-898A-4DA9-96EE-FF648264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183029"/>
                </a:solidFill>
                <a:latin typeface="Lato"/>
                <a:ea typeface="Lato"/>
                <a:cs typeface="Lato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D3A7A-F51C-4CF7-A47B-47F85604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900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900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3900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Profoundly human. Visibly technical.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A86E3-050F-4ABF-91D4-CDAB5B97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3390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pPr>
            <a:r>
              <a:rPr sz="2250">
                <a:solidFill>
                  <a:srgbClr val="007377"/>
                </a:solidFill>
                <a:latin typeface="Georgia"/>
                <a:ea typeface="Georgia"/>
                <a:cs typeface="Georgia"/>
              </a:rPr>
              <a:t>× The idea is human.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ED502-5371-4057-A3A7-FABAB16E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43325"/>
            <a:ext cx="33909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95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950">
                <a:solidFill>
                  <a:srgbClr val="183029"/>
                </a:solidFill>
                <a:latin typeface="Lato"/>
                <a:ea typeface="Lato"/>
                <a:cs typeface="Lato"/>
              </a:rPr>
              <a:t>The first screen could express it more clearly. Generic or posed imagery can make distinct products feel alike.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FBB0F-7D33-4448-8C14-C11FC41E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14625"/>
            <a:ext cx="3390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pPr>
            <a:r>
              <a:rPr sz="2250">
                <a:solidFill>
                  <a:srgbClr val="007377"/>
                </a:solidFill>
                <a:latin typeface="Georgia"/>
                <a:ea typeface="Georgia"/>
                <a:cs typeface="Georgia"/>
              </a:rPr>
              <a:t>× Kinetic imagery.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1ACE5-2543-4BF2-AD37-64479B79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43325"/>
            <a:ext cx="33909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95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950">
                <a:solidFill>
                  <a:srgbClr val="183029"/>
                </a:solidFill>
                <a:latin typeface="Lato"/>
                <a:ea typeface="Lato"/>
                <a:cs typeface="Lato"/>
              </a:rPr>
              <a:t>Energy and connection need a clear purpose. Real people provide the strongest proof of connection.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91C793-0E38-4B25-B7A4-EAA8AE14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14625"/>
            <a:ext cx="3390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pPr>
            <a:r>
              <a:rPr sz="2250">
                <a:solidFill>
                  <a:srgbClr val="007377"/>
                </a:solidFill>
                <a:latin typeface="Georgia"/>
                <a:ea typeface="Georgia"/>
                <a:cs typeface="Georgia"/>
              </a:rPr>
              <a:t>× A warm message.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F2C3E-7CA9-423A-93C0-C1FCBD95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43325"/>
            <a:ext cx="33909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95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950">
                <a:solidFill>
                  <a:srgbClr val="183029"/>
                </a:solidFill>
                <a:latin typeface="Lato"/>
                <a:ea typeface="Lato"/>
                <a:cs typeface="Lato"/>
              </a:rPr>
              <a:t>The words speak of partnership and care. A more human visual language can help that warmth come through.</a:t>
            </a:r>
          </a:p>
        </p:txBody>
      </p:sp>
    </p:spTree>
    <p:extLst>
      <p:ext uri="{BB962C8B-B14F-4D97-AF65-F5344CB8AC3E}">
        <p14:creationId xmlns:p14="http://schemas.microsoft.com/office/powerpoint/2010/main" val="108204494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830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3CE84-CF64-4B57-9406-D0AE737F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>
                <a:solidFill>
                  <a:srgbClr val="C5E86C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050">
                <a:solidFill>
                  <a:srgbClr val="C5E86C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C5E86C"/>
                </a:solidFill>
                <a:latin typeface="Lato"/>
                <a:ea typeface="Lato"/>
                <a:cs typeface="Lato"/>
              </a:rPr>
              <a:t>THE HUMAN CONNECTION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45DD7-2C69-443A-9B19-C6AA27F6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F4F3F0"/>
                </a:solidFill>
                <a:latin typeface="Lato"/>
                <a:ea typeface="Lato"/>
                <a:cs typeface="Lato"/>
              </a:rPr>
              <a:t>ANDREIA FERRAZ / BRAND 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B32C8-3AB0-478C-ACE3-5542B152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F4F3F0"/>
                </a:solidFill>
                <a:latin typeface="Lato"/>
                <a:ea typeface="Lato"/>
                <a:cs typeface="Lato"/>
              </a:rPr>
              <a:t>19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966F9-85F3-468C-9D4D-6F5DF0C68B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73a48181174d4b"/>
          <a:srcRect xmlns:a="http://schemas.openxmlformats.org/drawingml/2006/main" l="20334" t="0" r="203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800100"/>
            <a:ext cx="4667250" cy="5238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930D80-5F55-441D-98A6-C0A03499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6191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525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pPr>
            <a:r>
              <a:rPr sz="3525">
                <a:solidFill>
                  <a:srgbClr val="F4F3F0"/>
                </a:solidFill>
                <a:latin typeface="Georgia"/>
                <a:ea typeface="Georgia"/>
                <a:cs typeface="Georgia"/>
              </a:rPr>
              <a:t>Human connection needs</a:t>
            </a:r>
          </a:p>
          <a:p xmlns:a="http://schemas.openxmlformats.org/drawingml/2006/main">
            <a:pPr>
              <a:defRPr sz="3525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pPr>
            <a:r>
              <a:rPr sz="3525">
                <a:solidFill>
                  <a:srgbClr val="F4F3F0"/>
                </a:solidFill>
                <a:latin typeface="Georgia"/>
                <a:ea typeface="Georgia"/>
                <a:cs typeface="Georgia"/>
              </a:rPr>
              <a:t>a real human point of 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F7CFC-E1AB-4A2B-8C69-B30CA014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609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C5E86C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725">
                <a:solidFill>
                  <a:srgbClr val="C5E86C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C5E86C"/>
                </a:solidFill>
                <a:latin typeface="Lato"/>
                <a:ea typeface="Lato"/>
                <a:cs typeface="Lato"/>
              </a:rPr>
              <a:t>Foundant engineers with clients, Summit 2024. The imagery should explain the relationship.</a:t>
            </a:r>
          </a:p>
        </p:txBody>
      </p:sp>
    </p:spTree>
    <p:extLst>
      <p:ext uri="{BB962C8B-B14F-4D97-AF65-F5344CB8AC3E}">
        <p14:creationId xmlns:p14="http://schemas.microsoft.com/office/powerpoint/2010/main" val="14488196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830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14957C-9CEB-4F6E-B1B6-5E03DCC3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>
                <a:solidFill>
                  <a:srgbClr val="C5E86C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050">
                <a:solidFill>
                  <a:srgbClr val="C5E86C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C5E86C"/>
                </a:solidFill>
                <a:latin typeface="Lato"/>
                <a:ea typeface="Lato"/>
                <a:cs typeface="Lato"/>
              </a:rPr>
              <a:t>02 / QUESTIONS BEFORE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C50C4-33F3-4344-B50D-9E089F20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F4F3F0"/>
                </a:solidFill>
                <a:latin typeface="Lato"/>
                <a:ea typeface="Lato"/>
                <a:cs typeface="Lato"/>
              </a:rPr>
              <a:t>ANDREIA FERRAZ / BRAND 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02FDB-711C-41D4-87A3-BFB9B796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F4F3F0"/>
                </a:solidFill>
                <a:latin typeface="Lato"/>
                <a:ea typeface="Lato"/>
                <a:cs typeface="Lato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05EE1-D9FD-4B96-8C49-A4BB616E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500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4500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pPr>
            <a:r>
              <a:rPr sz="4500">
                <a:solidFill>
                  <a:srgbClr val="F4F3F0"/>
                </a:solidFill>
                <a:latin typeface="Georgia"/>
                <a:ea typeface="Georgia"/>
                <a:cs typeface="Georgia"/>
              </a:rPr>
              <a:t>Listen before</a:t>
            </a:r>
          </a:p>
          <a:p xmlns:a="http://schemas.openxmlformats.org/drawingml/2006/main">
            <a:pPr>
              <a:defRPr sz="4500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pPr>
            <a:r>
              <a:rPr sz="4500">
                <a:solidFill>
                  <a:srgbClr val="F4F3F0"/>
                </a:solidFill>
                <a:latin typeface="Georgia"/>
                <a:ea typeface="Georgia"/>
                <a:cs typeface="Georgia"/>
              </a:rPr>
              <a:t>unlocking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E86E12-F5E1-4E8B-B675-ECCF8586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066800"/>
            <a:ext cx="5429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C5E86C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875">
                <a:solidFill>
                  <a:srgbClr val="C5E86C"/>
                </a:solidFill>
                <a:latin typeface="Lato"/>
                <a:ea typeface="Lato"/>
                <a:cs typeface="Lato"/>
              </a:defRPr>
            </a:pPr>
            <a:r>
              <a:rPr sz="1875">
                <a:solidFill>
                  <a:srgbClr val="C5E86C"/>
                </a:solidFill>
                <a:latin typeface="Lato"/>
                <a:ea typeface="Lato"/>
                <a:cs typeface="Lato"/>
              </a:rPr>
              <a:t>Why do clients choose and stay?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25E96-0631-44E2-BC19-6D541D7E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00200"/>
            <a:ext cx="5429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875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1875">
                <a:solidFill>
                  <a:srgbClr val="F4F3F0"/>
                </a:solidFill>
                <a:latin typeface="Lato"/>
                <a:ea typeface="Lato"/>
                <a:cs typeface="Lato"/>
              </a:rPr>
              <a:t>Which names carry recognition?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1F829-A8B5-407C-81FC-6757828B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5429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C5E86C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875">
                <a:solidFill>
                  <a:srgbClr val="C5E86C"/>
                </a:solidFill>
                <a:latin typeface="Lato"/>
                <a:ea typeface="Lato"/>
                <a:cs typeface="Lato"/>
              </a:defRPr>
            </a:pPr>
            <a:r>
              <a:rPr sz="1875">
                <a:solidFill>
                  <a:srgbClr val="C5E86C"/>
                </a:solidFill>
                <a:latin typeface="Lato"/>
                <a:ea typeface="Lato"/>
                <a:cs typeface="Lato"/>
              </a:rPr>
              <a:t>Which claims can we support?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C26C0-3E78-4101-9904-27F57BF6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5429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875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1875">
                <a:solidFill>
                  <a:srgbClr val="F4F3F0"/>
                </a:solidFill>
                <a:latin typeface="Lato"/>
                <a:ea typeface="Lato"/>
                <a:cs typeface="Lato"/>
              </a:rPr>
              <a:t>What must we preserve or deliver?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E4C47-FDE3-4BB6-8DDB-C2F93EA2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00400"/>
            <a:ext cx="5429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C5E86C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875">
                <a:solidFill>
                  <a:srgbClr val="C5E86C"/>
                </a:solidFill>
                <a:latin typeface="Lato"/>
                <a:ea typeface="Lato"/>
                <a:cs typeface="Lato"/>
              </a:defRPr>
            </a:pPr>
            <a:r>
              <a:rPr sz="1875">
                <a:solidFill>
                  <a:srgbClr val="C5E86C"/>
                </a:solidFill>
                <a:latin typeface="Lato"/>
                <a:ea typeface="Lato"/>
                <a:cs typeface="Lato"/>
              </a:rPr>
              <a:t>Which journeys matter next?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191958-C115-4CA5-A257-DFFD65A2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5429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875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1875">
                <a:solidFill>
                  <a:srgbClr val="F4F3F0"/>
                </a:solidFill>
                <a:latin typeface="Lato"/>
                <a:ea typeface="Lato"/>
                <a:cs typeface="Lato"/>
              </a:rPr>
              <a:t>Where does confusion happen?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44CF6-AE07-48BE-BF2C-CCF6FF51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67200"/>
            <a:ext cx="5429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C5E86C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875">
                <a:solidFill>
                  <a:srgbClr val="C5E86C"/>
                </a:solidFill>
                <a:latin typeface="Lato"/>
                <a:ea typeface="Lato"/>
                <a:cs typeface="Lato"/>
              </a:defRPr>
            </a:pPr>
            <a:r>
              <a:rPr sz="1875">
                <a:solidFill>
                  <a:srgbClr val="C5E86C"/>
                </a:solidFill>
                <a:latin typeface="Lato"/>
                <a:ea typeface="Lato"/>
                <a:cs typeface="Lato"/>
              </a:rPr>
              <a:t>What is already decided?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DE1121-92AA-4DAA-B731-D287A3B1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00600"/>
            <a:ext cx="5429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875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1875">
                <a:solidFill>
                  <a:srgbClr val="F4F3F0"/>
                </a:solidFill>
                <a:latin typeface="Lato"/>
                <a:ea typeface="Lato"/>
                <a:cs typeface="Lato"/>
              </a:rPr>
              <a:t>What proof can we publish?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2BE7E3-A85F-48D3-9BA3-488DEBA0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34000"/>
            <a:ext cx="5429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C5E86C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875">
                <a:solidFill>
                  <a:srgbClr val="C5E86C"/>
                </a:solidFill>
                <a:latin typeface="Lato"/>
                <a:ea typeface="Lato"/>
                <a:cs typeface="Lato"/>
              </a:defRPr>
            </a:pPr>
            <a:r>
              <a:rPr sz="1875">
                <a:solidFill>
                  <a:srgbClr val="C5E86C"/>
                </a:solidFill>
                <a:latin typeface="Lato"/>
                <a:ea typeface="Lato"/>
                <a:cs typeface="Lato"/>
              </a:rPr>
              <a:t>How do organizations describe their needs?</a:t>
            </a:r>
          </a:p>
        </p:txBody>
      </p:sp>
    </p:spTree>
    <p:extLst>
      <p:ext uri="{BB962C8B-B14F-4D97-AF65-F5344CB8AC3E}">
        <p14:creationId xmlns:p14="http://schemas.microsoft.com/office/powerpoint/2010/main" val="105363044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830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2C610-AB2A-40D2-9366-2A48B641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>
                <a:solidFill>
                  <a:srgbClr val="C5E86C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050">
                <a:solidFill>
                  <a:srgbClr val="C5E86C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C5E86C"/>
                </a:solidFill>
                <a:latin typeface="Lato"/>
                <a:ea typeface="Lato"/>
                <a:cs typeface="Lato"/>
              </a:rPr>
              <a:t>BRAND FOUNDATIONS /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7C6ED-711A-4E21-A3DA-213BE5C7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F4F3F0"/>
                </a:solidFill>
                <a:latin typeface="Lato"/>
                <a:ea typeface="Lato"/>
                <a:cs typeface="Lato"/>
              </a:rPr>
              <a:t>ANDREIA FERRAZ / BRAND 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166DD-52B6-4617-9F01-584ABD10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F4F3F0"/>
                </a:solidFill>
                <a:latin typeface="Lato"/>
                <a:ea typeface="Lato"/>
                <a:cs typeface="Lato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2BF1D-6865-474F-9ADC-E7D52AD0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238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875">
                <a:solidFill>
                  <a:srgbClr val="C5E86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10875">
                <a:solidFill>
                  <a:srgbClr val="C5E86C"/>
                </a:solidFill>
                <a:latin typeface="Georgia"/>
                <a:ea typeface="Georgia"/>
                <a:cs typeface="Georgia"/>
              </a:defRPr>
            </a:pPr>
            <a:r>
              <a:rPr sz="10875">
                <a:solidFill>
                  <a:srgbClr val="C5E86C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F7AE0-ED87-4C85-9439-2EAE8F70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7905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175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5175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pPr>
            <a:r>
              <a:rPr sz="5175">
                <a:solidFill>
                  <a:srgbClr val="F4F3F0"/>
                </a:solidFill>
                <a:latin typeface="Georgia"/>
                <a:ea typeface="Georgia"/>
                <a:cs typeface="Georgia"/>
              </a:rPr>
              <a:t>One focused initiative.</a:t>
            </a:r>
          </a:p>
        </p:txBody>
      </p:sp>
    </p:spTree>
    <p:extLst>
      <p:ext uri="{BB962C8B-B14F-4D97-AF65-F5344CB8AC3E}">
        <p14:creationId xmlns:p14="http://schemas.microsoft.com/office/powerpoint/2010/main" val="4967332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6B70E0-CAF8-4E49-9024-8BBA674B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050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007377"/>
                </a:solidFill>
                <a:latin typeface="Lato"/>
                <a:ea typeface="Lato"/>
                <a:cs typeface="Lato"/>
              </a:rPr>
              <a:t>03 / PRIORITIZATION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DAB9B-68A6-430C-BEAE-25197216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183029"/>
                </a:solidFill>
                <a:latin typeface="Lato"/>
                <a:ea typeface="Lato"/>
                <a:cs typeface="Lato"/>
              </a:rPr>
              <a:t>ANDREIA FERRAZ / BRAND 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441AA-F89C-45D1-86EF-59CC4925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183029"/>
                </a:solidFill>
                <a:latin typeface="Lato"/>
                <a:ea typeface="Lato"/>
                <a:cs typeface="Lato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7444E-7AF6-4C72-ACA0-CC7C16D6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4875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900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900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3900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Establish a usable brand system</a:t>
            </a:r>
          </a:p>
          <a:p xmlns:a="http://schemas.openxmlformats.org/drawingml/2006/main">
            <a:pPr>
              <a:defRPr sz="3900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3900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through website experience.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0246F-32AA-4D9C-8EF6-11D87D5B4A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7402df42d14084"/>
          <a:srcRect xmlns:a="http://schemas.openxmlformats.org/drawingml/2006/main" l="5908" t="0" r="59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57500"/>
            <a:ext cx="4095750" cy="3095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2AFB5-4FF3-49F8-A139-B6B11281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762250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10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pPr>
            <a:r>
              <a:rPr sz="2100">
                <a:solidFill>
                  <a:srgbClr val="007377"/>
                </a:solidFill>
                <a:latin typeface="Georgia"/>
                <a:ea typeface="Georgia"/>
                <a:cs typeface="Georgia"/>
              </a:rPr>
              <a:t>The website is the proving ground.</a:t>
            </a:r>
          </a:p>
          <a:p xmlns:a="http://schemas.openxmlformats.org/drawingml/2006/main">
            <a:pPr>
              <a:defRPr sz="210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pPr>
            <a:r>
              <a:rPr sz="2100">
                <a:solidFill>
                  <a:srgbClr val="007377"/>
                </a:solidFill>
                <a:latin typeface="Georgia"/>
                <a:ea typeface="Georgia"/>
                <a:cs typeface="Georgia"/>
              </a:rPr>
              <a:t>The system is the reusable investment.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445C1-9FA7-42E9-B131-1FCF45D5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62375"/>
            <a:ext cx="6191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87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875">
                <a:solidFill>
                  <a:srgbClr val="183029"/>
                </a:solidFill>
                <a:latin typeface="Lato"/>
                <a:ea typeface="Lato"/>
                <a:cs typeface="Lato"/>
              </a:rPr>
              <a:t>01  Bring company, products, audiences, imagery, and messaging into one experience.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875">
                <a:solidFill>
                  <a:srgbClr val="183029"/>
                </a:solidFill>
                <a:latin typeface="Lato"/>
                <a:ea typeface="Lato"/>
                <a:cs typeface="Lato"/>
              </a:rPr>
              <a:t>02  Produce a focused first release and reusable rules tested in real pages.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875">
                <a:solidFill>
                  <a:srgbClr val="183029"/>
                </a:solidFill>
                <a:latin typeface="Lato"/>
                <a:ea typeface="Lato"/>
                <a:cs typeface="Lato"/>
              </a:rPr>
              <a:t>03  Let every brand dimension work together in a concrete priority.</a:t>
            </a:r>
          </a:p>
        </p:txBody>
      </p:sp>
    </p:spTree>
    <p:extLst>
      <p:ext uri="{BB962C8B-B14F-4D97-AF65-F5344CB8AC3E}">
        <p14:creationId xmlns:p14="http://schemas.microsoft.com/office/powerpoint/2010/main" val="4447161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830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7CCABF-C3EC-470B-A107-0D473967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>
                <a:solidFill>
                  <a:srgbClr val="C5E86C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050">
                <a:solidFill>
                  <a:srgbClr val="C5E86C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C5E86C"/>
                </a:solidFill>
                <a:latin typeface="Lato"/>
                <a:ea typeface="Lato"/>
                <a:cs typeface="Lato"/>
              </a:rPr>
              <a:t>03 / THE SIX-MONTH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476E5-FB68-4731-9E23-97125126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F4F3F0"/>
                </a:solidFill>
                <a:latin typeface="Lato"/>
                <a:ea typeface="Lato"/>
                <a:cs typeface="Lato"/>
              </a:rPr>
              <a:t>ANDREIA FERRAZ / BRAND 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AA017-ED14-4642-9245-CFB60B61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F4F3F0"/>
                </a:solidFill>
                <a:latin typeface="Lato"/>
                <a:ea typeface="Lato"/>
                <a:cs typeface="Lato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BE243-4C84-4428-B0A0-A481DAFA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4875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825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825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pPr>
            <a:r>
              <a:rPr sz="3825">
                <a:solidFill>
                  <a:srgbClr val="F4F3F0"/>
                </a:solidFill>
                <a:latin typeface="Georgia"/>
                <a:ea typeface="Georgia"/>
                <a:cs typeface="Georgia"/>
              </a:rPr>
              <a:t>Listen first. Prove the path together.</a:t>
            </a:r>
          </a:p>
          <a:p xmlns:a="http://schemas.openxmlformats.org/drawingml/2006/main">
            <a:pPr>
              <a:defRPr sz="3825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pPr>
            <a:r>
              <a:rPr sz="3825">
                <a:solidFill>
                  <a:srgbClr val="F4F3F0"/>
                </a:solidFill>
                <a:latin typeface="Georgia"/>
                <a:ea typeface="Georgia"/>
                <a:cs typeface="Georgia"/>
              </a:rPr>
              <a:t>Then scale what works.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476538-0604-4B97-9352-85EDE48F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3381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C5E86C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725">
                <a:solidFill>
                  <a:srgbClr val="C5E86C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C5E86C"/>
                </a:solidFill>
                <a:latin typeface="Lato"/>
                <a:ea typeface="Lato"/>
                <a:cs typeface="Lato"/>
              </a:rPr>
              <a:t>01–02 / Align &amp; pilot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9FFF0-AB22-453F-BEFE-6F125D9D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52800"/>
            <a:ext cx="3381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550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F4F3F0"/>
                </a:solidFill>
                <a:latin typeface="Georgia"/>
                <a:ea typeface="Georgia"/>
                <a:cs typeface="Georgia"/>
              </a:rPr>
              <a:t>Reduce risky ambiguity.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4D44B-E49F-495E-BB00-605BA81C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3381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875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1875">
                <a:solidFill>
                  <a:srgbClr val="F4F3F0"/>
                </a:solidFill>
                <a:latin typeface="Lato"/>
                <a:ea typeface="Lato"/>
                <a:cs typeface="Lato"/>
              </a:rPr>
              <a:t>Audit touchpoints, listen to stakeholders, and agree minimum rules while supporting site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A56B16-61EC-4034-B9C5-74270D48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3381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C5E86C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725">
                <a:solidFill>
                  <a:srgbClr val="C5E86C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C5E86C"/>
                </a:solidFill>
                <a:latin typeface="Lato"/>
                <a:ea typeface="Lato"/>
                <a:cs typeface="Lato"/>
              </a:rPr>
              <a:t>03–04 / Build &amp;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9B0D1-FC14-4161-BCF3-6626B947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3381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550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F4F3F0"/>
                </a:solidFill>
                <a:latin typeface="Georgia"/>
                <a:ea typeface="Georgia"/>
                <a:cs typeface="Georgia"/>
              </a:rPr>
              <a:t>Turn decisions into tools.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DB278A-58DE-4594-AEBA-830DEF8D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24375"/>
            <a:ext cx="3381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875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1875">
                <a:solidFill>
                  <a:srgbClr val="F4F3F0"/>
                </a:solidFill>
                <a:latin typeface="Lato"/>
                <a:ea typeface="Lato"/>
                <a:cs typeface="Lato"/>
              </a:rPr>
              <a:t>Work with communications, product marketing, and design to create reusable pilot patterns.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B417EE-2928-4439-9A95-ABD0100A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3381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C5E86C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725">
                <a:solidFill>
                  <a:srgbClr val="C5E86C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C5E86C"/>
                </a:solidFill>
                <a:latin typeface="Lato"/>
                <a:ea typeface="Lato"/>
                <a:cs typeface="Lato"/>
              </a:rPr>
              <a:t>05–06 / Enable &amp; refine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9E4EF8-8FF6-4246-8FC8-69C986F2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52800"/>
            <a:ext cx="3381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550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F4F3F0"/>
                </a:solidFill>
                <a:latin typeface="Georgia"/>
                <a:ea typeface="Georgia"/>
                <a:cs typeface="Georgia"/>
              </a:rPr>
              <a:t>Make the system usable.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47D29C-7042-4A20-B096-E0FC7A3A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24375"/>
            <a:ext cx="3381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875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1875">
                <a:solidFill>
                  <a:srgbClr val="F4F3F0"/>
                </a:solidFill>
                <a:latin typeface="Lato"/>
                <a:ea typeface="Lato"/>
                <a:cs typeface="Lato"/>
              </a:rPr>
              <a:t>Train users, document ownership, and expand only what has been validated.</a:t>
            </a:r>
          </a:p>
        </p:txBody>
      </p:sp>
    </p:spTree>
    <p:extLst>
      <p:ext uri="{BB962C8B-B14F-4D97-AF65-F5344CB8AC3E}">
        <p14:creationId xmlns:p14="http://schemas.microsoft.com/office/powerpoint/2010/main" val="186088471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CEAD47-4FBF-486D-A083-CB0D9FD5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050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007377"/>
                </a:solidFill>
                <a:latin typeface="Lato"/>
                <a:ea typeface="Lato"/>
                <a:cs typeface="Lato"/>
              </a:rPr>
              <a:t>03 / DEFINING SUCCESS TOGETHER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6DF3F-AE6B-462C-AEBF-AD7EDC9C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183029"/>
                </a:solidFill>
                <a:latin typeface="Lato"/>
                <a:ea typeface="Lato"/>
                <a:cs typeface="Lato"/>
              </a:rPr>
              <a:t>ANDREIA FERRAZ / BRAND 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F8F6C-98E7-42E9-8482-1183CE86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183029"/>
                </a:solidFill>
                <a:latin typeface="Lato"/>
                <a:ea typeface="Lato"/>
                <a:cs typeface="Lato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04F61-05C6-4264-BA69-8C5D409E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4875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9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9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3975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Success is a more useful brand.</a:t>
            </a:r>
          </a:p>
          <a:p xmlns:a="http://schemas.openxmlformats.org/drawingml/2006/main">
            <a:pPr>
              <a:defRPr sz="39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3975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Not a longer guideline.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D35D9-447F-4FE9-8825-55E7CBDB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479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87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875">
                <a:solidFill>
                  <a:srgbClr val="183029"/>
                </a:solidFill>
                <a:latin typeface="Lato"/>
                <a:ea typeface="Lato"/>
                <a:cs typeface="Lato"/>
              </a:rPr>
              <a:t>Set a baseline first. Agree on targets together. Avoid inventing performance promises.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781CBE-74E2-404D-AA2C-4BA0CFC9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3390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pPr>
            <a:r>
              <a:rPr sz="2250">
                <a:solidFill>
                  <a:srgbClr val="007377"/>
                </a:solidFill>
                <a:latin typeface="Georgia"/>
                <a:ea typeface="Georgia"/>
                <a:cs typeface="Georgia"/>
              </a:rPr>
              <a:t>Can people find their fit?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08B55-1B77-412A-A54A-C4A04D0F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33909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183029"/>
                </a:solidFill>
                <a:latin typeface="Lato"/>
                <a:ea typeface="Lato"/>
                <a:cs typeface="Lato"/>
              </a:rPr>
              <a:t>CLIENT CLARITY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183029"/>
                </a:solidFill>
                <a:latin typeface="Lato"/>
                <a:ea typeface="Lato"/>
                <a:cs typeface="Lato"/>
              </a:rPr>
              <a:t>Test whether priority audiences understand Foundant, the product relationship, and the next step.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FEE60-4201-41E7-B6A8-8CAEAE0C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3390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pPr>
            <a:r>
              <a:rPr sz="2250">
                <a:solidFill>
                  <a:srgbClr val="007377"/>
                </a:solidFill>
                <a:latin typeface="Georgia"/>
                <a:ea typeface="Georgia"/>
                <a:cs typeface="Georgia"/>
              </a:rPr>
              <a:t>Can people use the system?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8DB42-B3FC-4023-8DDB-67CD182B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62450"/>
            <a:ext cx="33909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183029"/>
                </a:solidFill>
                <a:latin typeface="Lato"/>
                <a:ea typeface="Lato"/>
                <a:cs typeface="Lato"/>
              </a:rPr>
              <a:t>TEAM ADOPTION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183029"/>
                </a:solidFill>
                <a:latin typeface="Lato"/>
                <a:ea typeface="Lato"/>
                <a:cs typeface="Lato"/>
              </a:rPr>
              <a:t>Observe whether patterns reduce friction in recurring work without removing creative flexibility.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703C5-EBDE-4E9C-AE1C-797E6D89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33750"/>
            <a:ext cx="3390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pPr>
            <a:r>
              <a:rPr sz="2250">
                <a:solidFill>
                  <a:srgbClr val="007377"/>
                </a:solidFill>
                <a:latin typeface="Georgia"/>
                <a:ea typeface="Georgia"/>
                <a:cs typeface="Georgia"/>
              </a:rPr>
              <a:t>Does the promise travel?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508A9-0511-4D25-8682-6F4F6C1B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62450"/>
            <a:ext cx="33909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183029"/>
                </a:solidFill>
                <a:latin typeface="Lato"/>
                <a:ea typeface="Lato"/>
                <a:cs typeface="Lato"/>
              </a:rPr>
              <a:t>BRAND CONSISTENCY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183029"/>
                </a:solidFill>
                <a:latin typeface="Lato"/>
                <a:ea typeface="Lato"/>
                <a:cs typeface="Lato"/>
              </a:rPr>
              <a:t>Compare key touchpoints using a simple, shared audit rubric.</a:t>
            </a:r>
          </a:p>
        </p:txBody>
      </p:sp>
    </p:spTree>
    <p:extLst>
      <p:ext uri="{BB962C8B-B14F-4D97-AF65-F5344CB8AC3E}">
        <p14:creationId xmlns:p14="http://schemas.microsoft.com/office/powerpoint/2010/main" val="162657770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830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012DE-EEE5-4C91-843C-05C0854A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>
                <a:solidFill>
                  <a:srgbClr val="C5E86C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050">
                <a:solidFill>
                  <a:srgbClr val="C5E86C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C5E86C"/>
                </a:solidFill>
                <a:latin typeface="Lato"/>
                <a:ea typeface="Lato"/>
                <a:cs typeface="Lato"/>
              </a:rPr>
              <a:t>BRAND FOUNDATIONS /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08867-34E4-4D31-B40D-8AF164B8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F4F3F0"/>
                </a:solidFill>
                <a:latin typeface="Lato"/>
                <a:ea typeface="Lato"/>
                <a:cs typeface="Lato"/>
              </a:rPr>
              <a:t>ANDREIA FERRAZ / BRAND 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353D3-C4B9-427A-BFFB-C152D568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F4F3F0"/>
                </a:solidFill>
                <a:latin typeface="Lato"/>
                <a:ea typeface="Lato"/>
                <a:cs typeface="Lato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90D7A-B03A-42A2-828D-1FE3303E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238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875">
                <a:solidFill>
                  <a:srgbClr val="C5E86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10875">
                <a:solidFill>
                  <a:srgbClr val="C5E86C"/>
                </a:solidFill>
                <a:latin typeface="Georgia"/>
                <a:ea typeface="Georgia"/>
                <a:cs typeface="Georgia"/>
              </a:defRPr>
            </a:pPr>
            <a:r>
              <a:rPr sz="10875">
                <a:solidFill>
                  <a:srgbClr val="C5E86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AAF904-915C-4CDD-B6C3-01A739F3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7905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175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5175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pPr>
            <a:r>
              <a:rPr sz="5175">
                <a:solidFill>
                  <a:srgbClr val="F4F3F0"/>
                </a:solidFill>
                <a:latin typeface="Georgia"/>
                <a:ea typeface="Georgia"/>
                <a:cs typeface="Georgia"/>
              </a:rPr>
              <a:t>Reflection &amp; possibility.</a:t>
            </a:r>
          </a:p>
        </p:txBody>
      </p:sp>
    </p:spTree>
    <p:extLst>
      <p:ext uri="{BB962C8B-B14F-4D97-AF65-F5344CB8AC3E}">
        <p14:creationId xmlns:p14="http://schemas.microsoft.com/office/powerpoint/2010/main" val="187577005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6FAEE-24C0-405C-8D06-AAC47935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050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007377"/>
                </a:solidFill>
                <a:latin typeface="Lato"/>
                <a:ea typeface="Lato"/>
                <a:cs typeface="Lato"/>
              </a:rPr>
              <a:t>04 / THE NEXT THREE YEARS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602AD8-1EE8-4F05-841E-8CD9FD00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183029"/>
                </a:solidFill>
                <a:latin typeface="Lato"/>
                <a:ea typeface="Lato"/>
                <a:cs typeface="Lato"/>
              </a:rPr>
              <a:t>ANDREIA FERRAZ / BRAND 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7C7C4-A7C4-4D28-99AB-ABC0D728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183029"/>
                </a:solidFill>
                <a:latin typeface="Lato"/>
                <a:ea typeface="Lato"/>
                <a:cs typeface="Lato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2FA59-E185-4146-9B5C-8F1A4A0F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00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3600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Two dimensions. Two different judgments.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360BDB-11C6-4A79-A969-913F12BD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8C3036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275">
                <a:solidFill>
                  <a:srgbClr val="8C3036"/>
                </a:solidFill>
                <a:latin typeface="Lato"/>
                <a:ea typeface="Lato"/>
                <a:cs typeface="Lato"/>
              </a:defRPr>
            </a:pPr>
            <a:r>
              <a:rPr sz="1275">
                <a:solidFill>
                  <a:srgbClr val="8C3036"/>
                </a:solidFill>
                <a:latin typeface="Lato"/>
                <a:ea typeface="Lato"/>
                <a:cs typeface="Lato"/>
              </a:rPr>
              <a:t>LEAST CLEAR / FURTHER ASSESSMENT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A75B2B-2C2D-47CE-9AD1-90E7A101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000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3000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Intelligence &amp; Insight.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3FBF2-46E1-466D-BD51-8C6B5937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21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2100">
                <a:solidFill>
                  <a:srgbClr val="183029"/>
                </a:solidFill>
                <a:latin typeface="Lato"/>
                <a:ea typeface="Lato"/>
                <a:cs typeface="Lato"/>
              </a:rPr>
              <a:t>Fia makes the AI offer concrete. A growing area needs clearer evidence of consistent client results.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941F5-DE17-4A09-94DB-63A7E52A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275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1275">
                <a:solidFill>
                  <a:srgbClr val="007377"/>
                </a:solidFill>
                <a:latin typeface="Lato"/>
                <a:ea typeface="Lato"/>
                <a:cs typeface="Lato"/>
              </a:rPr>
              <a:t>GREATEST THREE-YEAR POTENTIAL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3A5E3C-640F-4CC5-8A83-6C371FD2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000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3000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Community Building</a:t>
            </a:r>
          </a:p>
          <a:p xmlns:a="http://schemas.openxmlformats.org/drawingml/2006/main">
            <a:pPr>
              <a:defRPr sz="3000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3000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&amp; Engagement.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63D49-CBE8-4A0B-80FD-7E1CC139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76750"/>
            <a:ext cx="5143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202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2025">
                <a:solidFill>
                  <a:srgbClr val="183029"/>
                </a:solidFill>
                <a:latin typeface="Lato"/>
                <a:ea typeface="Lato"/>
                <a:cs typeface="Lato"/>
              </a:rPr>
              <a:t>Build on Compass, events, training, and Coffee Talks. Help clients learn, create together, and share what changed.</a:t>
            </a:r>
          </a:p>
        </p:txBody>
      </p:sp>
    </p:spTree>
    <p:extLst>
      <p:ext uri="{BB962C8B-B14F-4D97-AF65-F5344CB8AC3E}">
        <p14:creationId xmlns:p14="http://schemas.microsoft.com/office/powerpoint/2010/main" val="8540597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830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0606B5-02FC-43CD-B533-B61612AE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>
                <a:solidFill>
                  <a:srgbClr val="C5E86C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050">
                <a:solidFill>
                  <a:srgbClr val="C5E86C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C5E86C"/>
                </a:solidFill>
                <a:latin typeface="Lato"/>
                <a:ea typeface="Lato"/>
                <a:cs typeface="Lato"/>
              </a:rPr>
              <a:t>THE HUMAN CONNECTION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15F2E-E999-44D0-BF7A-05B7FE57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F4F3F0"/>
                </a:solidFill>
                <a:latin typeface="Lato"/>
                <a:ea typeface="Lato"/>
                <a:cs typeface="Lato"/>
              </a:rPr>
              <a:t>ANDREIA FERRAZ / BRAND 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CFF4C-3BD5-4724-B13A-D00B7306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F4F3F0"/>
                </a:solidFill>
                <a:latin typeface="Lato"/>
                <a:ea typeface="Lato"/>
                <a:cs typeface="Lato"/>
              </a:rPr>
              <a:t>27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DD5A5-BD04-4F5D-B557-AC7E2B195F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f493daf464cec"/>
          <a:srcRect xmlns:a="http://schemas.openxmlformats.org/drawingml/2006/main" l="20310" t="0" r="203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800100"/>
            <a:ext cx="4667250" cy="5238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6A7C7-C35F-4563-8695-028F0189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6191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525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pPr>
            <a:r>
              <a:rPr sz="3525">
                <a:solidFill>
                  <a:srgbClr val="F4F3F0"/>
                </a:solidFill>
                <a:latin typeface="Georgia"/>
                <a:ea typeface="Georgia"/>
                <a:cs typeface="Georgia"/>
              </a:rPr>
              <a:t>Shared practice reveals needs.</a:t>
            </a:r>
          </a:p>
          <a:p xmlns:a="http://schemas.openxmlformats.org/drawingml/2006/main">
            <a:pPr>
              <a:defRPr sz="3525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pPr>
            <a:r>
              <a:rPr sz="3525">
                <a:solidFill>
                  <a:srgbClr val="F4F3F0"/>
                </a:solidFill>
                <a:latin typeface="Georgia"/>
                <a:ea typeface="Georgia"/>
                <a:cs typeface="Georgia"/>
              </a:rPr>
              <a:t>Listening improves the product.</a:t>
            </a:r>
          </a:p>
          <a:p xmlns:a="http://schemas.openxmlformats.org/drawingml/2006/main">
            <a:pPr>
              <a:defRPr sz="3525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pPr>
            <a:r>
              <a:rPr sz="3525">
                <a:solidFill>
                  <a:srgbClr val="F4F3F0"/>
                </a:solidFill>
                <a:latin typeface="Georgia"/>
                <a:ea typeface="Georgia"/>
                <a:cs typeface="Georgia"/>
              </a:rPr>
              <a:t>The community gets value 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69C81-0444-45AA-9AD1-B688C2F9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609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C5E86C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725">
                <a:solidFill>
                  <a:srgbClr val="C5E86C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C5E86C"/>
                </a:solidFill>
                <a:latin typeface="Lato"/>
                <a:ea typeface="Lato"/>
                <a:cs typeface="Lato"/>
              </a:rPr>
              <a:t>Sector knowledge, technology, and community can turn information into better decisions.</a:t>
            </a:r>
          </a:p>
        </p:txBody>
      </p:sp>
    </p:spTree>
    <p:extLst>
      <p:ext uri="{BB962C8B-B14F-4D97-AF65-F5344CB8AC3E}">
        <p14:creationId xmlns:p14="http://schemas.microsoft.com/office/powerpoint/2010/main" val="179200793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25DE6E-4046-4D25-9E0B-A1EDF943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050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007377"/>
                </a:solidFill>
                <a:latin typeface="Lato"/>
                <a:ea typeface="Lato"/>
                <a:cs typeface="Lato"/>
              </a:rPr>
              <a:t>FOR 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4DB57-657C-4EB8-AC00-EE9321EF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183029"/>
                </a:solidFill>
                <a:latin typeface="Lato"/>
                <a:ea typeface="Lato"/>
                <a:cs typeface="Lato"/>
              </a:rPr>
              <a:t>ANDREIA FERRAZ / BRAND 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C4835-B33B-492A-A0D6-1373FEAC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183029"/>
                </a:solidFill>
                <a:latin typeface="Lato"/>
                <a:ea typeface="Lato"/>
                <a:cs typeface="Lato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7C6A0-5E8F-4E06-9A86-B9FC7704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12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412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4125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Amplify the good.</a:t>
            </a:r>
          </a:p>
          <a:p xmlns:a="http://schemas.openxmlformats.org/drawingml/2006/main">
            <a:pPr>
              <a:defRPr sz="412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4125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Make the connection clear.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19476A-581A-4FBF-86F1-D98F2A30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87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875">
                <a:solidFill>
                  <a:srgbClr val="183029"/>
                </a:solidFill>
                <a:latin typeface="Lato"/>
                <a:ea typeface="Lato"/>
                <a:cs typeface="Lato"/>
              </a:rPr>
              <a:t>Preserve the purpose. Activate the foundation. Give the team a system they can 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4AC25-AEA5-463D-9029-F046895C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9087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925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925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pPr>
            <a:r>
              <a:rPr sz="2925">
                <a:solidFill>
                  <a:srgbClr val="007377"/>
                </a:solidFill>
                <a:latin typeface="Georgia"/>
                <a:ea typeface="Georgia"/>
                <a:cs typeface="Georgia"/>
              </a:rPr>
              <a:t>A brand system should make creativity easier,</a:t>
            </a:r>
          </a:p>
          <a:p xmlns:a="http://schemas.openxmlformats.org/drawingml/2006/main">
            <a:pPr>
              <a:defRPr sz="2925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pPr>
            <a:r>
              <a:rPr sz="2925">
                <a:solidFill>
                  <a:srgbClr val="007377"/>
                </a:solidFill>
                <a:latin typeface="Georgia"/>
                <a:ea typeface="Georgia"/>
                <a:cs typeface="Georgia"/>
              </a:rPr>
              <a:t>not more restrictive.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BD1B5-272D-4867-A451-866C9403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5257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pPr>
            <a:r>
              <a:rPr sz="2250">
                <a:solidFill>
                  <a:srgbClr val="007377"/>
                </a:solidFill>
                <a:latin typeface="Georgia"/>
                <a:ea typeface="Georgia"/>
                <a:cs typeface="Georgia"/>
              </a:rPr>
              <a:t>What would you preserve?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60CA1-2C0A-471C-BAAD-997B2103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62575"/>
            <a:ext cx="52578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183029"/>
                </a:solidFill>
                <a:latin typeface="Lato"/>
                <a:ea typeface="Lato"/>
                <a:cs typeface="Lato"/>
              </a:rPr>
              <a:t>Which part of the foundation feels most essential to Foundant’s future?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AEA6B8-4889-4F4E-9BC8-E8466480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33875"/>
            <a:ext cx="5257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250">
                <a:solidFill>
                  <a:srgbClr val="007377"/>
                </a:solidFill>
                <a:latin typeface="Georgia"/>
                <a:ea typeface="Georgia"/>
                <a:cs typeface="Georgia"/>
              </a:defRPr>
            </a:pPr>
            <a:r>
              <a:rPr sz="2250">
                <a:solidFill>
                  <a:srgbClr val="007377"/>
                </a:solidFill>
                <a:latin typeface="Georgia"/>
                <a:ea typeface="Georgia"/>
                <a:cs typeface="Georgia"/>
              </a:rPr>
              <a:t>Where would you start?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DBACA6-CB6B-4502-94FD-9E29F89E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62575"/>
            <a:ext cx="52578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725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183029"/>
                </a:solidFill>
                <a:latin typeface="Lato"/>
                <a:ea typeface="Lato"/>
                <a:cs typeface="Lato"/>
              </a:rPr>
              <a:t>Which decision would help the team move forward most quickly?</a:t>
            </a:r>
          </a:p>
        </p:txBody>
      </p:sp>
    </p:spTree>
    <p:extLst>
      <p:ext uri="{BB962C8B-B14F-4D97-AF65-F5344CB8AC3E}">
        <p14:creationId xmlns:p14="http://schemas.microsoft.com/office/powerpoint/2010/main" val="151860337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6D638C-1C64-4AEA-BD61-0F492275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050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007377"/>
                </a:solidFill>
                <a:latin typeface="Lato"/>
                <a:ea typeface="Lato"/>
                <a:cs typeface="Lato"/>
              </a:rPr>
              <a:t>AN OUTSIDE-IN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97E46-56CB-4897-8EB9-86B409F6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183029"/>
                </a:solidFill>
                <a:latin typeface="Lato"/>
                <a:ea typeface="Lato"/>
                <a:cs typeface="Lato"/>
              </a:rPr>
              <a:t>ANDREIA FERRAZ / BRAND 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A8D7EC-C9E4-49E9-8C92-19312146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183029"/>
                </a:solidFill>
                <a:latin typeface="Lato"/>
                <a:ea typeface="Lato"/>
                <a:cs typeface="Lato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72762-A61B-4FDE-92F1-3C4B2BDA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8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4875">
                <a:solidFill>
                  <a:srgbClr val="183029"/>
                </a:solidFill>
                <a:latin typeface="Georgia"/>
                <a:ea typeface="Georgia"/>
                <a:cs typeface="Georgia"/>
              </a:defRPr>
            </a:pPr>
            <a:r>
              <a:rPr sz="4875">
                <a:solidFill>
                  <a:srgbClr val="183029"/>
                </a:solidFill>
                <a:latin typeface="Georgia"/>
                <a:ea typeface="Georgia"/>
                <a:cs typeface="Georgia"/>
              </a:rPr>
              <a:t>Protect the focus.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D3426-E1FA-4320-9578-ABA863F9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057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225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2250">
                <a:solidFill>
                  <a:srgbClr val="183029"/>
                </a:solidFill>
                <a:latin typeface="Lato"/>
                <a:ea typeface="Lato"/>
                <a:cs typeface="Lato"/>
              </a:rPr>
              <a:t>These are initial observations and hypotheses based on public information. Validate them with the team’s experience, client evidence, and work already underway.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ACE9C-0B55-461E-8508-9744A77D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>
                <a:solidFill>
                  <a:srgbClr val="18302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2250">
                <a:solidFill>
                  <a:srgbClr val="183029"/>
                </a:solidFill>
                <a:latin typeface="Lato"/>
                <a:ea typeface="Lato"/>
                <a:cs typeface="Lato"/>
              </a:defRPr>
            </a:pPr>
            <a:r>
              <a:rPr sz="2250">
                <a:solidFill>
                  <a:srgbClr val="183029"/>
                </a:solidFill>
                <a:latin typeface="Lato"/>
                <a:ea typeface="Lato"/>
                <a:cs typeface="Lato"/>
              </a:rPr>
              <a:t>The focused six-month approach is a starting point for planning together. Dates depend on development capacity, competing priorities, and approval.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5C0F3A-36D0-4CD1-BD9A-0EF054B9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>
                <a:solidFill>
                  <a:srgbClr val="00737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2250">
                <a:solidFill>
                  <a:srgbClr val="007377"/>
                </a:solidFill>
                <a:latin typeface="Lato"/>
                <a:ea typeface="Lato"/>
                <a:cs typeface="Lato"/>
              </a:defRPr>
            </a:pPr>
            <a:r>
              <a:rPr sz="2250">
                <a:solidFill>
                  <a:srgbClr val="007377"/>
                </a:solidFill>
                <a:latin typeface="Lato"/>
                <a:ea typeface="Lato"/>
                <a:cs typeface="Lato"/>
              </a:rPr>
              <a:t>Agree on one audience journey and a manageable pilot. Learn together, revise openly, and scale what is validated.</a:t>
            </a:r>
          </a:p>
        </p:txBody>
      </p:sp>
    </p:spTree>
    <p:extLst>
      <p:ext uri="{BB962C8B-B14F-4D97-AF65-F5344CB8AC3E}">
        <p14:creationId xmlns:p14="http://schemas.microsoft.com/office/powerpoint/2010/main" val="203172468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830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17DBAC-59E3-4343-B591-89598221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>
                <a:solidFill>
                  <a:srgbClr val="C5E86C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050">
                <a:solidFill>
                  <a:srgbClr val="C5E86C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C5E86C"/>
                </a:solidFill>
                <a:latin typeface="Lato"/>
                <a:ea typeface="Lato"/>
                <a:cs typeface="Lato"/>
              </a:rPr>
              <a:t>LET’S DISCUSS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BF6478-8B1F-4539-A617-59D2434B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F4F3F0"/>
                </a:solidFill>
                <a:latin typeface="Lato"/>
                <a:ea typeface="Lato"/>
                <a:cs typeface="Lato"/>
              </a:rPr>
              <a:t>ANDREIA FERRAZ / BRAND 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03C81-0EBE-4752-8798-B8A8B3AE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F4F3F0"/>
                </a:solidFill>
                <a:latin typeface="Lato"/>
                <a:ea typeface="Lato"/>
                <a:cs typeface="Lato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89101-516E-4656-ACDC-5D448ED7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4875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275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4275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pPr>
            <a:r>
              <a:rPr sz="4275">
                <a:solidFill>
                  <a:srgbClr val="F4F3F0"/>
                </a:solidFill>
                <a:latin typeface="Georgia"/>
                <a:ea typeface="Georgia"/>
                <a:cs typeface="Georgia"/>
              </a:rPr>
              <a:t>Teresa, I want to learn from your</a:t>
            </a:r>
          </a:p>
          <a:p xmlns:a="http://schemas.openxmlformats.org/drawingml/2006/main">
            <a:pPr>
              <a:defRPr sz="4275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pPr>
            <a:r>
              <a:rPr sz="4275">
                <a:solidFill>
                  <a:srgbClr val="F4F3F0"/>
                </a:solidFill>
                <a:latin typeface="Georgia"/>
                <a:ea typeface="Georgia"/>
                <a:cs typeface="Georgia"/>
              </a:rPr>
              <a:t>and the team’s perspectives.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88821-D054-440E-8065-0A430AD0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241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>
                <a:solidFill>
                  <a:srgbClr val="C5E86C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2250">
                <a:solidFill>
                  <a:srgbClr val="C5E86C"/>
                </a:solidFill>
                <a:latin typeface="Lato"/>
                <a:ea typeface="Lato"/>
                <a:cs typeface="Lato"/>
              </a:defRPr>
            </a:pPr>
            <a:r>
              <a:rPr sz="2250">
                <a:solidFill>
                  <a:srgbClr val="C5E86C"/>
                </a:solidFill>
                <a:latin typeface="Lato"/>
                <a:ea typeface="Lato"/>
                <a:cs typeface="Lato"/>
              </a:rPr>
              <a:t>Amplify the good. Make the connection clear.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B9F87-39D8-4B1D-B54D-91524DCCED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d1ce3f1cf24f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24250"/>
            <a:ext cx="1066800" cy="1066800"/>
          </a:xfrm>
          <a:prstGeom xmlns:a="http://schemas.openxmlformats.org/drawingml/2006/main" prst="ellipse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ACB61-7479-45DC-A094-C8763D70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20288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800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1800">
                <a:solidFill>
                  <a:srgbClr val="F4F3F0"/>
                </a:solidFill>
                <a:latin typeface="Lato"/>
                <a:ea typeface="Lato"/>
                <a:cs typeface="Lato"/>
              </a:rPr>
              <a:t>Teresa Harting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C3CE8-88BE-42C2-8E4E-0C9C2DE6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81650"/>
            <a:ext cx="20288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C5E86C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500">
                <a:solidFill>
                  <a:srgbClr val="C5E86C"/>
                </a:solidFill>
                <a:latin typeface="Lato"/>
                <a:ea typeface="Lato"/>
                <a:cs typeface="Lato"/>
              </a:defRPr>
            </a:pPr>
            <a:r>
              <a:rPr sz="1500">
                <a:solidFill>
                  <a:srgbClr val="C5E86C"/>
                </a:solidFill>
                <a:latin typeface="Lato"/>
                <a:ea typeface="Lato"/>
                <a:cs typeface="Lato"/>
              </a:rPr>
              <a:t>People &amp; brand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349C34-A112-4AA7-B496-5DD8426B79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6cf5da79b14d6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09875" y="3524250"/>
            <a:ext cx="1066800" cy="1066800"/>
          </a:xfrm>
          <a:prstGeom xmlns:a="http://schemas.openxmlformats.org/drawingml/2006/main" prst="ellipse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257E22-CDF4-4041-819F-BED7C2CD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905375"/>
            <a:ext cx="20288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800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1800">
                <a:solidFill>
                  <a:srgbClr val="F4F3F0"/>
                </a:solidFill>
                <a:latin typeface="Lato"/>
                <a:ea typeface="Lato"/>
                <a:cs typeface="Lato"/>
              </a:rPr>
              <a:t>Kristin Laird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4053E5-D966-416C-81B8-722BDB13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581650"/>
            <a:ext cx="20288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C5E86C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500">
                <a:solidFill>
                  <a:srgbClr val="C5E86C"/>
                </a:solidFill>
                <a:latin typeface="Lato"/>
                <a:ea typeface="Lato"/>
                <a:cs typeface="Lato"/>
              </a:defRPr>
            </a:pPr>
            <a:r>
              <a:rPr sz="1500">
                <a:solidFill>
                  <a:srgbClr val="C5E86C"/>
                </a:solidFill>
                <a:latin typeface="Lato"/>
                <a:ea typeface="Lato"/>
                <a:cs typeface="Lato"/>
              </a:rPr>
              <a:t>Story, communication, community &amp; brand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B4DCA0-7EB0-4439-A020-84689160C9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6942da718640b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0" y="3524250"/>
            <a:ext cx="1066800" cy="1066800"/>
          </a:xfrm>
          <a:prstGeom xmlns:a="http://schemas.openxmlformats.org/drawingml/2006/main" prst="ellipse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5330D3-E9EA-4EF7-B1DD-F5868940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05375"/>
            <a:ext cx="20288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800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1800">
                <a:solidFill>
                  <a:srgbClr val="F4F3F0"/>
                </a:solidFill>
                <a:latin typeface="Lato"/>
                <a:ea typeface="Lato"/>
                <a:cs typeface="Lato"/>
              </a:rPr>
              <a:t>Lauren Ambielli Cardoni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93536A-07EA-4D3F-B3F8-E67C9852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81650"/>
            <a:ext cx="20288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C5E86C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500">
                <a:solidFill>
                  <a:srgbClr val="C5E86C"/>
                </a:solidFill>
                <a:latin typeface="Lato"/>
                <a:ea typeface="Lato"/>
                <a:cs typeface="Lato"/>
              </a:defRPr>
            </a:pPr>
            <a:r>
              <a:rPr sz="1500">
                <a:solidFill>
                  <a:srgbClr val="C5E86C"/>
                </a:solidFill>
                <a:latin typeface="Lato"/>
                <a:ea typeface="Lato"/>
                <a:cs typeface="Lato"/>
              </a:rPr>
              <a:t>Human-centered design, systems &amp; usability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046277-9E8D-43C7-91B0-A5B1295CB7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14562ebdbc4572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86625" y="3524250"/>
            <a:ext cx="1066800" cy="1066800"/>
          </a:xfrm>
          <a:prstGeom xmlns:a="http://schemas.openxmlformats.org/drawingml/2006/main" prst="ellipse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B51959-8E83-4AF2-B016-10983BC4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905375"/>
            <a:ext cx="20288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800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1800">
                <a:solidFill>
                  <a:srgbClr val="F4F3F0"/>
                </a:solidFill>
                <a:latin typeface="Lato"/>
                <a:ea typeface="Lato"/>
                <a:cs typeface="Lato"/>
              </a:rPr>
              <a:t>Allyson Levis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9EEC89-878F-4E34-B4E3-D8D13603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581650"/>
            <a:ext cx="20288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C5E86C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500">
                <a:solidFill>
                  <a:srgbClr val="C5E86C"/>
                </a:solidFill>
                <a:latin typeface="Lato"/>
                <a:ea typeface="Lato"/>
                <a:cs typeface="Lato"/>
              </a:defRPr>
            </a:pPr>
            <a:r>
              <a:rPr sz="1500">
                <a:solidFill>
                  <a:srgbClr val="C5E86C"/>
                </a:solidFill>
                <a:latin typeface="Lato"/>
                <a:ea typeface="Lato"/>
                <a:cs typeface="Lato"/>
              </a:rPr>
              <a:t>Marketing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7A6317-B94F-4C0D-936C-C52C4FE5DD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c777dec76f462b"/>
          <a:srcRect xmlns:a="http://schemas.openxmlformats.org/drawingml/2006/main" l="157" t="0" r="1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00" y="3524250"/>
            <a:ext cx="1066800" cy="1066800"/>
          </a:xfrm>
          <a:prstGeom xmlns:a="http://schemas.openxmlformats.org/drawingml/2006/main" prst="ellipse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F83BC1-8DB4-47C2-9B3B-3490D351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05375"/>
            <a:ext cx="20288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800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1800">
                <a:solidFill>
                  <a:srgbClr val="F4F3F0"/>
                </a:solidFill>
                <a:latin typeface="Lato"/>
                <a:ea typeface="Lato"/>
                <a:cs typeface="Lato"/>
              </a:rPr>
              <a:t>Ann Dermody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335F13-4EF1-46EB-BFBA-5A5EAA3F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81650"/>
            <a:ext cx="20288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C5E86C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500">
                <a:solidFill>
                  <a:srgbClr val="C5E86C"/>
                </a:solidFill>
                <a:latin typeface="Lato"/>
                <a:ea typeface="Lato"/>
                <a:cs typeface="Lato"/>
              </a:defRPr>
            </a:pPr>
            <a:r>
              <a:rPr sz="1500">
                <a:solidFill>
                  <a:srgbClr val="C5E86C"/>
                </a:solidFill>
                <a:latin typeface="Lato"/>
                <a:ea typeface="Lato"/>
                <a:cs typeface="Lato"/>
              </a:rPr>
              <a:t>Marketing, growth, performance &amp; scale</a:t>
            </a:r>
          </a:p>
        </p:txBody>
      </p:sp>
    </p:spTree>
    <p:extLst>
      <p:ext uri="{BB962C8B-B14F-4D97-AF65-F5344CB8AC3E}">
        <p14:creationId xmlns:p14="http://schemas.microsoft.com/office/powerpoint/2010/main" val="25923490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830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30D46-AECE-48CB-B49E-05669821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>
                <a:solidFill>
                  <a:srgbClr val="C5E86C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050">
                <a:solidFill>
                  <a:srgbClr val="C5E86C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C5E86C"/>
                </a:solidFill>
                <a:latin typeface="Lato"/>
                <a:ea typeface="Lato"/>
                <a:cs typeface="Lato"/>
              </a:rPr>
              <a:t>THANK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1058C-CD92-484B-84DB-91130B71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F4F3F0"/>
                </a:solidFill>
                <a:latin typeface="Lato"/>
                <a:ea typeface="Lato"/>
                <a:cs typeface="Lato"/>
              </a:rPr>
              <a:t>ANDREIA FERRAZ / BRAND 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35521-84AB-41AF-841A-EF39A9A3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F4F3F0"/>
                </a:solidFill>
                <a:latin typeface="Lato"/>
                <a:ea typeface="Lato"/>
                <a:cs typeface="Lato"/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6A459-F4FE-476D-B46E-EF81F386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100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5100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pPr>
            <a:r>
              <a:rPr sz="5100">
                <a:solidFill>
                  <a:srgbClr val="F4F3F0"/>
                </a:solidFill>
                <a:latin typeface="Georgia"/>
                <a:ea typeface="Georgia"/>
                <a:cs typeface="Georgia"/>
              </a:rPr>
              <a:t>Making the engine for good</a:t>
            </a:r>
          </a:p>
          <a:p xmlns:a="http://schemas.openxmlformats.org/drawingml/2006/main">
            <a:pPr>
              <a:defRPr sz="5100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pPr>
            <a:r>
              <a:rPr sz="5100">
                <a:solidFill>
                  <a:srgbClr val="F4F3F0"/>
                </a:solidFill>
                <a:latin typeface="Georgia"/>
                <a:ea typeface="Georgia"/>
                <a:cs typeface="Georgia"/>
              </a:rPr>
              <a:t>visible, human &amp;</a:t>
            </a:r>
          </a:p>
          <a:p xmlns:a="http://schemas.openxmlformats.org/drawingml/2006/main">
            <a:pPr>
              <a:defRPr sz="5100">
                <a:solidFill>
                  <a:srgbClr val="F4F3F0"/>
                </a:solidFill>
                <a:latin typeface="Georgia"/>
                <a:ea typeface="Georgia"/>
                <a:cs typeface="Georgia"/>
              </a:defRPr>
            </a:pPr>
            <a:r>
              <a:rPr sz="5100">
                <a:solidFill>
                  <a:srgbClr val="F4F3F0"/>
                </a:solidFill>
                <a:latin typeface="Georgia"/>
                <a:ea typeface="Georgia"/>
                <a:cs typeface="Georgia"/>
              </a:rPr>
              <a:t>easy to choose.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D4FDA-2B23-407A-921D-9E3D3D77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148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>
                <a:solidFill>
                  <a:srgbClr val="C5E86C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2400">
                <a:solidFill>
                  <a:srgbClr val="C5E86C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C5E86C"/>
                </a:solidFill>
                <a:latin typeface="Lato"/>
                <a:ea typeface="Lato"/>
                <a:cs typeface="Lato"/>
              </a:rPr>
              <a:t>Amplify the good. Make the connection clear.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E860E-F96F-4F88-A255-9221D783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>
                <a:solidFill>
                  <a:srgbClr val="F4F3F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defRPr sz="1800">
                <a:solidFill>
                  <a:srgbClr val="F4F3F0"/>
                </a:solidFill>
                <a:latin typeface="Lato"/>
                <a:ea typeface="Lato"/>
                <a:cs typeface="Lato"/>
              </a:defRPr>
            </a:pPr>
            <a:r>
              <a:rPr sz="1800">
                <a:solidFill>
                  <a:srgbClr val="F4F3F0"/>
                </a:solidFill>
                <a:latin typeface="Lato"/>
                <a:ea typeface="Lato"/>
                <a:cs typeface="Lato"/>
                <a:hlinkClick xmlns:r="http://schemas.openxmlformats.org/officeDocument/2006/relationships" r:id="Rd9a7bac9e5fa4cba"/>
              </a:rPr>
              <a:t>Andreia Ferraz · andreiaferraz.com</a:t>
            </a:r>
          </a:p>
        </p:txBody>
      </p:sp>
    </p:spTree>
    <p:extLst>
      <p:ext uri="{BB962C8B-B14F-4D97-AF65-F5344CB8AC3E}">
        <p14:creationId xmlns:p14="http://schemas.microsoft.com/office/powerpoint/2010/main" val="6082175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2026-10-13T04:54:13.5850000Z</dcterms:created>
  <dcterms:modified xsi:type="dcterms:W3CDTF">2026-10-13T04:54:13.5850000Z</dcterms:modified>
</coreProperties>
</file>